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3" r:id="rId5"/>
    <p:sldId id="269" r:id="rId6"/>
    <p:sldId id="298" r:id="rId7"/>
    <p:sldId id="273" r:id="rId8"/>
    <p:sldId id="276" r:id="rId9"/>
    <p:sldId id="278" r:id="rId10"/>
    <p:sldId id="281" r:id="rId11"/>
    <p:sldId id="283" r:id="rId12"/>
    <p:sldId id="285" r:id="rId13"/>
    <p:sldId id="288" r:id="rId14"/>
    <p:sldId id="290" r:id="rId15"/>
    <p:sldId id="293" r:id="rId16"/>
    <p:sldId id="295" r:id="rId17"/>
    <p:sldId id="29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60" d="100"/>
          <a:sy n="160" d="100"/>
        </p:scale>
        <p:origin x="2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BottomBar"/>
          <p:cNvSpPr/>
          <p:nvPr/>
        </p:nvSpPr>
        <p:spPr>
          <a:xfrm>
            <a:off x="0" y="6629400"/>
            <a:ext cx="9144000" cy="27432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FooterText"/>
          <p:cNvSpPr/>
          <p:nvPr/>
        </p:nvSpPr>
        <p:spPr>
          <a:xfrm>
            <a:off x="457200" y="6492240"/>
            <a:ext cx="6000000" cy="146304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ko-KR" sz="900">
                <a:solidFill>
                  <a:srgbClr val="8C97A8"/>
                </a:solidFill>
              </a:rPr>
              <a:t>6CanDoIt · 다마고치 RPG · 객체지향 프로그래밍 최종 프로젝트</a:t>
            </a:r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E3A4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PyeJujFhIME" TargetMode="External"/><Relationship Id="rId2" Type="http://schemas.openxmlformats.org/officeDocument/2006/relationships/hyperlink" Target="https://github.com/whsoo8232/tamagotchi_rp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E8298-4CAE-D2E4-5EF2-9FE2EFF77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000"/>
            <a:ext cx="9144000" cy="1270000"/>
          </a:xfrm>
        </p:spPr>
        <p:txBody>
          <a:bodyPr/>
          <a:lstStyle/>
          <a:p>
            <a:pPr algn="l"/>
            <a:r>
              <a:rPr lang="ko-KR" sz="5400" b="1">
                <a:solidFill>
                  <a:srgbClr val="1B2A4A"/>
                </a:solidFill>
              </a:rPr>
              <a:t>다마고치 RPG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ED7EA9-468B-E5BA-0949-3F2A6CE3C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78200"/>
            <a:ext cx="9144000" cy="584200"/>
          </a:xfrm>
        </p:spPr>
        <p:txBody>
          <a:bodyPr/>
          <a:lstStyle/>
          <a:p>
            <a:pPr algn="l"/>
            <a:r>
              <a:rPr lang="ko-KR" sz="2000">
                <a:solidFill>
                  <a:srgbClr val="2E3A4F"/>
                </a:solidFill>
              </a:rPr>
              <a:t>터미널 기반 육성·전투 복합 게임</a:t>
            </a:r>
          </a:p>
        </p:txBody>
      </p:sp>
      <p:sp>
        <p:nvSpPr>
          <p:cNvPr id="905" name="Kicker"/>
          <p:cNvSpPr txBox="1"/>
          <p:nvPr/>
        </p:nvSpPr>
        <p:spPr>
          <a:xfrm>
            <a:off x="1524000" y="1371600"/>
            <a:ext cx="9144000" cy="3810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r>
              <a:rPr lang="en-US" sz="1400" b="1" spc="200">
                <a:solidFill>
                  <a:srgbClr val="2563B0"/>
                </a:solidFill>
              </a:rPr>
              <a:t>객체지향 프로그래밍  ·  FINAL PROJECT REPORT</a:t>
            </a:r>
          </a:p>
        </p:txBody>
      </p:sp>
      <p:sp>
        <p:nvSpPr>
          <p:cNvPr id="907" name="MetaDivider"/>
          <p:cNvSpPr/>
          <p:nvPr/>
        </p:nvSpPr>
        <p:spPr>
          <a:xfrm>
            <a:off x="1524000" y="4978400"/>
            <a:ext cx="9144000" cy="127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" name="meta0"/>
          <p:cNvSpPr txBox="1"/>
          <p:nvPr/>
        </p:nvSpPr>
        <p:spPr>
          <a:xfrm>
            <a:off x="1524000" y="5105400"/>
            <a:ext cx="2133600" cy="1016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b="1" dirty="0">
                <a:solidFill>
                  <a:srgbClr val="2563B0"/>
                </a:solidFill>
              </a:rPr>
              <a:t>TEAM</a:t>
            </a:r>
          </a:p>
          <a:p>
            <a:pPr algn="l">
              <a:spcBef>
                <a:spcPts val="300"/>
              </a:spcBef>
            </a:pPr>
            <a:r>
              <a:rPr lang="ko-KR" sz="1300" dirty="0">
                <a:solidFill>
                  <a:srgbClr val="2E3A4F"/>
                </a:solidFill>
              </a:rPr>
              <a:t>6CanDoIt</a:t>
            </a:r>
          </a:p>
        </p:txBody>
      </p:sp>
      <p:sp>
        <p:nvSpPr>
          <p:cNvPr id="1090" name="meta180"/>
          <p:cNvSpPr txBox="1"/>
          <p:nvPr/>
        </p:nvSpPr>
        <p:spPr>
          <a:xfrm>
            <a:off x="3687475" y="5105400"/>
            <a:ext cx="2590800" cy="1016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b="1" dirty="0">
                <a:solidFill>
                  <a:srgbClr val="2563B0"/>
                </a:solidFill>
              </a:rPr>
              <a:t>MEMBERS</a:t>
            </a:r>
          </a:p>
          <a:p>
            <a:pPr algn="l">
              <a:spcBef>
                <a:spcPts val="300"/>
              </a:spcBef>
            </a:pPr>
            <a:r>
              <a:rPr lang="ko-KR" sz="1300" dirty="0">
                <a:solidFill>
                  <a:srgbClr val="2E3A4F"/>
                </a:solidFill>
              </a:rPr>
              <a:t>조광일</a:t>
            </a:r>
            <a:r>
              <a:rPr lang="en-US" altLang="ko-KR" sz="1300" dirty="0">
                <a:solidFill>
                  <a:srgbClr val="2E3A4F"/>
                </a:solidFill>
              </a:rPr>
              <a:t>, </a:t>
            </a:r>
            <a:r>
              <a:rPr lang="ko-KR" sz="1300" dirty="0">
                <a:solidFill>
                  <a:srgbClr val="2E3A4F"/>
                </a:solidFill>
              </a:rPr>
              <a:t>김태현</a:t>
            </a:r>
            <a:r>
              <a:rPr lang="en-US" altLang="ko-KR" sz="1300" dirty="0">
                <a:solidFill>
                  <a:srgbClr val="2E3A4F"/>
                </a:solidFill>
              </a:rPr>
              <a:t>, </a:t>
            </a:r>
            <a:r>
              <a:rPr lang="ko-KR" sz="1300" dirty="0">
                <a:solidFill>
                  <a:srgbClr val="2E3A4F"/>
                </a:solidFill>
              </a:rPr>
              <a:t>이현빈</a:t>
            </a:r>
            <a:r>
              <a:rPr lang="en-US" altLang="ko-KR" sz="1300" dirty="0">
                <a:solidFill>
                  <a:srgbClr val="2E3A4F"/>
                </a:solidFill>
              </a:rPr>
              <a:t>, </a:t>
            </a:r>
            <a:r>
              <a:rPr lang="ko-KR" sz="1300" dirty="0" err="1">
                <a:solidFill>
                  <a:srgbClr val="2E3A4F"/>
                </a:solidFill>
              </a:rPr>
              <a:t>정주연</a:t>
            </a:r>
            <a:endParaRPr lang="ko-KR" sz="1300" dirty="0">
              <a:solidFill>
                <a:srgbClr val="2E3A4F"/>
              </a:solidFill>
            </a:endParaRPr>
          </a:p>
        </p:txBody>
      </p:sp>
      <p:sp>
        <p:nvSpPr>
          <p:cNvPr id="1450" name="meta540"/>
          <p:cNvSpPr txBox="1"/>
          <p:nvPr/>
        </p:nvSpPr>
        <p:spPr>
          <a:xfrm>
            <a:off x="7135909" y="5105400"/>
            <a:ext cx="3544046" cy="1016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b="1" dirty="0">
                <a:solidFill>
                  <a:srgbClr val="2563B0"/>
                </a:solidFill>
              </a:rPr>
              <a:t>GITHUB</a:t>
            </a:r>
          </a:p>
          <a:p>
            <a:pPr>
              <a:spcBef>
                <a:spcPts val="300"/>
              </a:spcBef>
            </a:pPr>
            <a:r>
              <a:rPr lang="en-US" altLang="ko-KR" sz="1100" dirty="0">
                <a:solidFill>
                  <a:srgbClr val="2E3A4F"/>
                </a:solidFill>
                <a:hlinkClick r:id="rId2"/>
              </a:rPr>
              <a:t>https://github.com/whsoo8232/tamagotchi_rpg</a:t>
            </a:r>
            <a:endParaRPr lang="en-US" altLang="ko-KR" sz="1100" dirty="0">
              <a:solidFill>
                <a:srgbClr val="2E3A4F"/>
              </a:solidFill>
            </a:endParaRPr>
          </a:p>
          <a:p>
            <a:pPr>
              <a:spcBef>
                <a:spcPts val="300"/>
              </a:spcBef>
            </a:pPr>
            <a:endParaRPr lang="en-US" altLang="ko-KR" sz="500" dirty="0">
              <a:solidFill>
                <a:srgbClr val="2E3A4F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ko-KR" sz="1050" b="1" dirty="0">
                <a:solidFill>
                  <a:srgbClr val="2563B0"/>
                </a:solidFill>
              </a:rPr>
              <a:t>YOUTUBE</a:t>
            </a:r>
          </a:p>
          <a:p>
            <a:pPr>
              <a:spcBef>
                <a:spcPts val="300"/>
              </a:spcBef>
            </a:pPr>
            <a:r>
              <a:rPr lang="en-US" altLang="ko-KR" sz="1100" dirty="0">
                <a:solidFill>
                  <a:srgbClr val="2E3A4F"/>
                </a:solidFill>
                <a:hlinkClick r:id="rId3"/>
              </a:rPr>
              <a:t>https://youtu.be/PyeJujFhIME</a:t>
            </a:r>
            <a:endParaRPr lang="en-US" altLang="ko-KR" sz="1100" dirty="0">
              <a:solidFill>
                <a:srgbClr val="2E3A4F"/>
              </a:solidFill>
            </a:endParaRPr>
          </a:p>
          <a:p>
            <a:pPr>
              <a:spcBef>
                <a:spcPts val="300"/>
              </a:spcBef>
            </a:pPr>
            <a:endParaRPr lang="en-US" altLang="ko-KR" sz="1050" dirty="0">
              <a:solidFill>
                <a:srgbClr val="2E3A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0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05974-B258-FA52-C9B7-29D72F18C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10515600" cy="711200"/>
          </a:xfrm>
        </p:spPr>
        <p:txBody>
          <a:bodyPr/>
          <a:lstStyle/>
          <a:p>
            <a:pPr algn="l"/>
            <a:r>
              <a:rPr lang="ko-KR" sz="3000" b="1">
                <a:solidFill>
                  <a:srgbClr val="1B2A4A"/>
                </a:solidFill>
              </a:rPr>
              <a:t>프로젝트 개요</a:t>
            </a:r>
          </a:p>
        </p:txBody>
      </p:sp>
      <p:sp>
        <p:nvSpPr>
          <p:cNvPr id="301" name="intro"/>
          <p:cNvSpPr txBox="1"/>
          <p:nvPr/>
        </p:nvSpPr>
        <p:spPr>
          <a:xfrm>
            <a:off x="838200" y="1625600"/>
            <a:ext cx="10515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91440" rIns="0" bIns="0" anchor="t"/>
          <a:lstStyle/>
          <a:p>
            <a:pPr algn="l">
              <a:lnSpc>
                <a:spcPts val="2200"/>
              </a:lnSpc>
            </a:pPr>
            <a:r>
              <a:rPr lang="ko-KR" sz="1500">
                <a:solidFill>
                  <a:srgbClr val="2E3A4F"/>
                </a:solidFill>
              </a:rPr>
              <a:t>1990년대 휴대용 전자 펫 '다마고치'를 현대적 터미널 기반 RPG로 재해석했다. 캐릭터를 직접 키우고 훈련시켜 전투에 참여하는 복합 장르 게임으로, C++ OOP 원리를 실제 게임 개발에 적용한다.</a:t>
            </a:r>
          </a:p>
        </p:txBody>
      </p:sp>
      <p:sp>
        <p:nvSpPr>
          <p:cNvPr id="310" name="card0"/>
          <p:cNvSpPr txBox="1"/>
          <p:nvPr/>
        </p:nvSpPr>
        <p:spPr>
          <a:xfrm>
            <a:off x="838200" y="2667000"/>
            <a:ext cx="3302000" cy="1905000"/>
          </a:xfrm>
          <a:prstGeom prst="roundRect">
            <a:avLst>
              <a:gd name="adj" fmla="val 4500"/>
            </a:avLst>
          </a:prstGeom>
          <a:solidFill>
            <a:srgbClr val="EEF3F9"/>
          </a:solidFill>
          <a:ln>
            <a:noFill/>
          </a:ln>
        </p:spPr>
        <p:txBody>
          <a:bodyPr wrap="square" lIns="137160" tIns="91440" rIns="137160" bIns="0" anchor="t"/>
          <a:lstStyle/>
          <a:p>
            <a:pPr>
              <a:spcBef>
                <a:spcPts val="600"/>
              </a:spcBef>
            </a:pPr>
            <a:r>
              <a:rPr lang="ko-KR" sz="1700" b="1" dirty="0">
                <a:solidFill>
                  <a:srgbClr val="2563B0"/>
                </a:solidFill>
              </a:rPr>
              <a:t>OOP 설계 학습</a:t>
            </a:r>
            <a:endParaRPr lang="en-US" altLang="ko-KR" sz="1700" b="1" dirty="0">
              <a:solidFill>
                <a:srgbClr val="2563B0"/>
              </a:solidFill>
            </a:endParaRPr>
          </a:p>
          <a:p>
            <a:pPr>
              <a:spcBef>
                <a:spcPts val="600"/>
              </a:spcBef>
            </a:pPr>
            <a:endParaRPr lang="ko-KR" sz="1000" b="1" dirty="0">
              <a:solidFill>
                <a:srgbClr val="2563B0"/>
              </a:solidFill>
            </a:endParaRPr>
          </a:p>
          <a:p>
            <a:pPr>
              <a:lnSpc>
                <a:spcPts val="1900"/>
              </a:lnSpc>
              <a:spcBef>
                <a:spcPts val="600"/>
              </a:spcBef>
            </a:pPr>
            <a:r>
              <a:rPr lang="ko-KR" sz="1350" dirty="0" err="1">
                <a:solidFill>
                  <a:srgbClr val="2E3A4F"/>
                </a:solidFill>
              </a:rPr>
              <a:t>육성·전투·훈련·장비</a:t>
            </a:r>
            <a:r>
              <a:rPr lang="ko-KR" sz="1350" dirty="0">
                <a:solidFill>
                  <a:srgbClr val="2E3A4F"/>
                </a:solidFill>
              </a:rPr>
              <a:t> 등 다양한 기능을 모듈 단위로 분리해 OOP 설계를 자연스럽게 실습한다.</a:t>
            </a:r>
          </a:p>
        </p:txBody>
      </p:sp>
      <p:sp>
        <p:nvSpPr>
          <p:cNvPr id="320" name="cardtop0"/>
          <p:cNvSpPr/>
          <p:nvPr/>
        </p:nvSpPr>
        <p:spPr>
          <a:xfrm>
            <a:off x="838200" y="2667000"/>
            <a:ext cx="3302000" cy="508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card1"/>
          <p:cNvSpPr txBox="1"/>
          <p:nvPr/>
        </p:nvSpPr>
        <p:spPr>
          <a:xfrm>
            <a:off x="4445000" y="2667000"/>
            <a:ext cx="3302000" cy="1905000"/>
          </a:xfrm>
          <a:prstGeom prst="roundRect">
            <a:avLst>
              <a:gd name="adj" fmla="val 4500"/>
            </a:avLst>
          </a:prstGeom>
          <a:solidFill>
            <a:srgbClr val="EEF3F9"/>
          </a:solidFill>
          <a:ln>
            <a:noFill/>
          </a:ln>
        </p:spPr>
        <p:txBody>
          <a:bodyPr wrap="square" lIns="137160" tIns="91440" rIns="137160" bIns="0" anchor="t"/>
          <a:lstStyle/>
          <a:p>
            <a:pPr>
              <a:spcBef>
                <a:spcPts val="600"/>
              </a:spcBef>
            </a:pPr>
            <a:r>
              <a:rPr lang="ko-KR" sz="1700" b="1" dirty="0" err="1">
                <a:solidFill>
                  <a:srgbClr val="2563B0"/>
                </a:solidFill>
              </a:rPr>
              <a:t>저수준</a:t>
            </a:r>
            <a:r>
              <a:rPr lang="ko-KR" sz="1700" b="1" dirty="0">
                <a:solidFill>
                  <a:srgbClr val="2563B0"/>
                </a:solidFill>
              </a:rPr>
              <a:t> </a:t>
            </a:r>
            <a:r>
              <a:rPr lang="ko-KR" sz="1700" b="1" dirty="0" err="1">
                <a:solidFill>
                  <a:srgbClr val="2563B0"/>
                </a:solidFill>
              </a:rPr>
              <a:t>I</a:t>
            </a:r>
            <a:r>
              <a:rPr lang="ko-KR" sz="1700" b="1" dirty="0">
                <a:solidFill>
                  <a:srgbClr val="2563B0"/>
                </a:solidFill>
              </a:rPr>
              <a:t>/</a:t>
            </a:r>
            <a:r>
              <a:rPr lang="ko-KR" sz="1700" b="1" dirty="0" err="1">
                <a:solidFill>
                  <a:srgbClr val="2563B0"/>
                </a:solidFill>
              </a:rPr>
              <a:t>O</a:t>
            </a:r>
            <a:r>
              <a:rPr lang="ko-KR" sz="1700" b="1" dirty="0">
                <a:solidFill>
                  <a:srgbClr val="2563B0"/>
                </a:solidFill>
              </a:rPr>
              <a:t> 기술</a:t>
            </a:r>
            <a:endParaRPr lang="en-US" altLang="ko-KR" sz="1700" b="1" dirty="0">
              <a:solidFill>
                <a:srgbClr val="2563B0"/>
              </a:solidFill>
            </a:endParaRPr>
          </a:p>
          <a:p>
            <a:pPr>
              <a:spcBef>
                <a:spcPts val="600"/>
              </a:spcBef>
            </a:pPr>
            <a:endParaRPr lang="ko-KR" sz="1000" b="1" dirty="0">
              <a:solidFill>
                <a:srgbClr val="2563B0"/>
              </a:solidFill>
            </a:endParaRPr>
          </a:p>
          <a:p>
            <a:pPr>
              <a:lnSpc>
                <a:spcPts val="1900"/>
              </a:lnSpc>
              <a:spcBef>
                <a:spcPts val="600"/>
              </a:spcBef>
            </a:pPr>
            <a:r>
              <a:rPr lang="ko-KR" sz="1350" dirty="0">
                <a:solidFill>
                  <a:srgbClr val="2E3A4F"/>
                </a:solidFill>
              </a:rPr>
              <a:t>터미널 환경의 </a:t>
            </a:r>
            <a:r>
              <a:rPr lang="ko-KR" sz="1350" dirty="0" err="1">
                <a:solidFill>
                  <a:srgbClr val="2E3A4F"/>
                </a:solidFill>
              </a:rPr>
              <a:t>마우스·키보드</a:t>
            </a:r>
            <a:r>
              <a:rPr lang="ko-KR" sz="1350" dirty="0">
                <a:solidFill>
                  <a:srgbClr val="2E3A4F"/>
                </a:solidFill>
              </a:rPr>
              <a:t> 입력, ANSI 색상, 커서 제어 등 </a:t>
            </a:r>
            <a:r>
              <a:rPr lang="ko-KR" sz="1350" dirty="0" err="1">
                <a:solidFill>
                  <a:srgbClr val="2E3A4F"/>
                </a:solidFill>
              </a:rPr>
              <a:t>저수준</a:t>
            </a:r>
            <a:r>
              <a:rPr lang="ko-KR" sz="1350" dirty="0">
                <a:solidFill>
                  <a:srgbClr val="2E3A4F"/>
                </a:solidFill>
              </a:rPr>
              <a:t> 기술을 직접 </a:t>
            </a:r>
            <a:r>
              <a:rPr lang="ko-KR" sz="1350" dirty="0" err="1">
                <a:solidFill>
                  <a:srgbClr val="2E3A4F"/>
                </a:solidFill>
              </a:rPr>
              <a:t>구현·습득한다</a:t>
            </a:r>
            <a:r>
              <a:rPr lang="ko-KR" sz="1350" dirty="0">
                <a:solidFill>
                  <a:srgbClr val="2E3A4F"/>
                </a:solidFill>
              </a:rPr>
              <a:t>.</a:t>
            </a:r>
          </a:p>
        </p:txBody>
      </p:sp>
      <p:sp>
        <p:nvSpPr>
          <p:cNvPr id="321" name="cardtop1"/>
          <p:cNvSpPr/>
          <p:nvPr/>
        </p:nvSpPr>
        <p:spPr>
          <a:xfrm>
            <a:off x="4445000" y="2667000"/>
            <a:ext cx="3302000" cy="508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card2"/>
          <p:cNvSpPr txBox="1"/>
          <p:nvPr/>
        </p:nvSpPr>
        <p:spPr>
          <a:xfrm>
            <a:off x="8051800" y="2667000"/>
            <a:ext cx="3302000" cy="1905000"/>
          </a:xfrm>
          <a:prstGeom prst="roundRect">
            <a:avLst>
              <a:gd name="adj" fmla="val 4500"/>
            </a:avLst>
          </a:prstGeom>
          <a:solidFill>
            <a:srgbClr val="EEF3F9"/>
          </a:solidFill>
          <a:ln>
            <a:noFill/>
          </a:ln>
        </p:spPr>
        <p:txBody>
          <a:bodyPr wrap="square" lIns="137160" tIns="91440" rIns="137160" bIns="0" anchor="t"/>
          <a:lstStyle/>
          <a:p>
            <a:pPr>
              <a:spcBef>
                <a:spcPts val="600"/>
              </a:spcBef>
            </a:pPr>
            <a:r>
              <a:rPr lang="ko-KR" sz="1700" b="1" dirty="0">
                <a:solidFill>
                  <a:srgbClr val="2563B0"/>
                </a:solidFill>
              </a:rPr>
              <a:t>팀 협업 경험</a:t>
            </a:r>
            <a:endParaRPr lang="en-US" altLang="ko-KR" sz="1700" b="1" dirty="0">
              <a:solidFill>
                <a:srgbClr val="2563B0"/>
              </a:solidFill>
            </a:endParaRPr>
          </a:p>
          <a:p>
            <a:pPr>
              <a:spcBef>
                <a:spcPts val="600"/>
              </a:spcBef>
            </a:pPr>
            <a:endParaRPr lang="ko-KR" sz="1000" b="1" dirty="0">
              <a:solidFill>
                <a:srgbClr val="2563B0"/>
              </a:solidFill>
            </a:endParaRPr>
          </a:p>
          <a:p>
            <a:pPr>
              <a:lnSpc>
                <a:spcPts val="1900"/>
              </a:lnSpc>
              <a:spcBef>
                <a:spcPts val="600"/>
              </a:spcBef>
            </a:pPr>
            <a:r>
              <a:rPr lang="ko-KR" sz="1350" dirty="0">
                <a:solidFill>
                  <a:srgbClr val="2E3A4F"/>
                </a:solidFill>
              </a:rPr>
              <a:t>게임이라는 친숙한 도메인으로 협업 동기를 부여하고 </a:t>
            </a:r>
            <a:r>
              <a:rPr lang="ko-KR" sz="1350" dirty="0" err="1">
                <a:solidFill>
                  <a:srgbClr val="2E3A4F"/>
                </a:solidFill>
              </a:rPr>
              <a:t>Git</a:t>
            </a:r>
            <a:r>
              <a:rPr lang="ko-KR" sz="1350" dirty="0">
                <a:solidFill>
                  <a:srgbClr val="2E3A4F"/>
                </a:solidFill>
              </a:rPr>
              <a:t> 기반 버전 관리 경험을 쌓는다.</a:t>
            </a:r>
          </a:p>
        </p:txBody>
      </p:sp>
      <p:sp>
        <p:nvSpPr>
          <p:cNvPr id="322" name="cardtop2"/>
          <p:cNvSpPr/>
          <p:nvPr/>
        </p:nvSpPr>
        <p:spPr>
          <a:xfrm>
            <a:off x="8051800" y="2667000"/>
            <a:ext cx="3302000" cy="508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23" name="Graphic 323" descr="OOP 모듈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4824" y="2743208"/>
            <a:ext cx="381000" cy="381000"/>
          </a:xfrm>
          <a:prstGeom prst="rect">
            <a:avLst/>
          </a:prstGeom>
        </p:spPr>
      </p:pic>
      <p:pic>
        <p:nvPicPr>
          <p:cNvPr id="324" name="Graphic 324" descr="터미널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1624" y="2743208"/>
            <a:ext cx="381000" cy="381000"/>
          </a:xfrm>
          <a:prstGeom prst="rect">
            <a:avLst/>
          </a:prstGeom>
        </p:spPr>
      </p:pic>
      <p:pic>
        <p:nvPicPr>
          <p:cNvPr id="325" name="Graphic 325" descr="팀 협업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38424" y="2743208"/>
            <a:ext cx="381000" cy="381000"/>
          </a:xfrm>
          <a:prstGeom prst="rect">
            <a:avLst/>
          </a:prstGeom>
        </p:spPr>
      </p:pic>
      <p:sp>
        <p:nvSpPr>
          <p:cNvPr id="330" name="takeaway"/>
          <p:cNvSpPr txBox="1"/>
          <p:nvPr/>
        </p:nvSpPr>
        <p:spPr>
          <a:xfrm>
            <a:off x="838200" y="4978400"/>
            <a:ext cx="10515600" cy="9906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</p:spPr>
        <p:txBody>
          <a:bodyPr wrap="square" lIns="228600" tIns="91440" rIns="228600" bIns="91440" anchor="ctr"/>
          <a:lstStyle/>
          <a:p>
            <a:pPr algn="l"/>
            <a:r>
              <a:rPr lang="en-US" sz="1500" b="1">
                <a:solidFill>
                  <a:srgbClr val="C9A227"/>
                </a:solidFill>
              </a:rPr>
              <a:t>핵심  </a:t>
            </a:r>
            <a:r>
              <a:rPr lang="ko-KR" sz="1500">
                <a:solidFill>
                  <a:srgbClr val="FFFFFF"/>
                </a:solidFill>
              </a:rPr>
              <a:t>친숙한 게임 도메인 속에서 OOP 설계와 저수준 시스템 프로그래밍을 동시에 학습하는 것을 목표로 한다.</a:t>
            </a:r>
          </a:p>
        </p:txBody>
      </p:sp>
    </p:spTree>
    <p:extLst>
      <p:ext uri="{BB962C8B-B14F-4D97-AF65-F5344CB8AC3E}">
        <p14:creationId xmlns:p14="http://schemas.microsoft.com/office/powerpoint/2010/main" val="947614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B93F6-8AEC-1583-AD15-F4A391ED9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10515600" cy="711200"/>
          </a:xfrm>
        </p:spPr>
        <p:txBody>
          <a:bodyPr/>
          <a:lstStyle/>
          <a:p>
            <a:pPr algn="l"/>
            <a:r>
              <a:rPr lang="ko-KR" sz="3000" b="1">
                <a:solidFill>
                  <a:srgbClr val="1B2A4A"/>
                </a:solidFill>
              </a:rPr>
              <a:t>벤치마킹 &amp; 개발 환경</a:t>
            </a:r>
          </a:p>
        </p:txBody>
      </p:sp>
      <p:sp>
        <p:nvSpPr>
          <p:cNvPr id="401" name="t"/>
          <p:cNvSpPr txBox="1"/>
          <p:nvPr/>
        </p:nvSpPr>
        <p:spPr>
          <a:xfrm>
            <a:off x="838200" y="1367125"/>
            <a:ext cx="5080000" cy="279400"/>
          </a:xfrm>
          <a:prstGeom prst="rect">
            <a:avLst/>
          </a:prstGeom>
          <a:noFill/>
        </p:spPr>
        <p:txBody>
          <a:bodyPr wrap="square" lIns="45720" tIns="0" rIns="45720" bIns="0" anchor="ctr"/>
          <a:lstStyle/>
          <a:p>
            <a:pPr algn="l"/>
            <a:r>
              <a:rPr lang="ko-KR" sz="1400" b="1" dirty="0">
                <a:solidFill>
                  <a:srgbClr val="2563B0"/>
                </a:solidFill>
              </a:rPr>
              <a:t>벤치마킹  BENCHMARKING</a:t>
            </a:r>
          </a:p>
        </p:txBody>
      </p:sp>
      <p:sp>
        <p:nvSpPr>
          <p:cNvPr id="402" name="r"/>
          <p:cNvSpPr/>
          <p:nvPr/>
        </p:nvSpPr>
        <p:spPr>
          <a:xfrm>
            <a:off x="838200" y="1748125"/>
            <a:ext cx="10515600" cy="431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3" name="t"/>
          <p:cNvSpPr txBox="1"/>
          <p:nvPr/>
        </p:nvSpPr>
        <p:spPr>
          <a:xfrm>
            <a:off x="838200" y="1748125"/>
            <a:ext cx="1524000" cy="431800"/>
          </a:xfrm>
          <a:prstGeom prst="rect">
            <a:avLst/>
          </a:prstGeom>
          <a:noFill/>
        </p:spPr>
        <p:txBody>
          <a:bodyPr wrap="square" lIns="45720" tIns="0" rIns="45720" bIns="0" anchor="ctr"/>
          <a:lstStyle/>
          <a:p>
            <a:pPr algn="l"/>
            <a:r>
              <a:rPr lang="ko-KR" sz="1350" b="1">
                <a:solidFill>
                  <a:srgbClr val="FFFFFF"/>
                </a:solidFill>
              </a:rPr>
              <a:t>참고 작품</a:t>
            </a:r>
          </a:p>
        </p:txBody>
      </p:sp>
      <p:sp>
        <p:nvSpPr>
          <p:cNvPr id="404" name="t"/>
          <p:cNvSpPr txBox="1"/>
          <p:nvPr/>
        </p:nvSpPr>
        <p:spPr>
          <a:xfrm>
            <a:off x="2362200" y="1748125"/>
            <a:ext cx="2667000" cy="431800"/>
          </a:xfrm>
          <a:prstGeom prst="rect">
            <a:avLst/>
          </a:prstGeom>
          <a:noFill/>
        </p:spPr>
        <p:txBody>
          <a:bodyPr wrap="square" lIns="45720" tIns="0" rIns="45720" bIns="0" anchor="ctr"/>
          <a:lstStyle/>
          <a:p>
            <a:pPr algn="l"/>
            <a:r>
              <a:rPr lang="ko-KR" sz="1350" b="1">
                <a:solidFill>
                  <a:srgbClr val="FFFFFF"/>
                </a:solidFill>
              </a:rPr>
              <a:t>벤치마킹 포인트</a:t>
            </a:r>
          </a:p>
        </p:txBody>
      </p:sp>
      <p:sp>
        <p:nvSpPr>
          <p:cNvPr id="405" name="t"/>
          <p:cNvSpPr txBox="1"/>
          <p:nvPr/>
        </p:nvSpPr>
        <p:spPr>
          <a:xfrm>
            <a:off x="5029200" y="1748125"/>
            <a:ext cx="6324600" cy="431800"/>
          </a:xfrm>
          <a:prstGeom prst="rect">
            <a:avLst/>
          </a:prstGeom>
          <a:noFill/>
        </p:spPr>
        <p:txBody>
          <a:bodyPr wrap="square" lIns="45720" tIns="0" rIns="45720" bIns="0" anchor="ctr"/>
          <a:lstStyle/>
          <a:p>
            <a:pPr algn="l"/>
            <a:r>
              <a:rPr lang="ko-KR" sz="1350" b="1">
                <a:solidFill>
                  <a:srgbClr val="FFFFFF"/>
                </a:solidFill>
              </a:rPr>
              <a:t>적용 내용</a:t>
            </a:r>
          </a:p>
        </p:txBody>
      </p:sp>
      <p:sp>
        <p:nvSpPr>
          <p:cNvPr id="406" name="r"/>
          <p:cNvSpPr/>
          <p:nvPr/>
        </p:nvSpPr>
        <p:spPr>
          <a:xfrm>
            <a:off x="838200" y="2179925"/>
            <a:ext cx="10515600" cy="609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7" name="t"/>
          <p:cNvSpPr txBox="1"/>
          <p:nvPr/>
        </p:nvSpPr>
        <p:spPr>
          <a:xfrm>
            <a:off x="838200" y="2179925"/>
            <a:ext cx="1524000" cy="609600"/>
          </a:xfrm>
          <a:prstGeom prst="rect">
            <a:avLst/>
          </a:prstGeom>
          <a:noFill/>
        </p:spPr>
        <p:txBody>
          <a:bodyPr wrap="square" lIns="45720" tIns="45720" rIns="45720" bIns="0" anchor="ctr"/>
          <a:lstStyle/>
          <a:p>
            <a:pPr algn="l"/>
            <a:r>
              <a:rPr lang="ko-KR" sz="1400" b="1" dirty="0" err="1">
                <a:solidFill>
                  <a:srgbClr val="1B2A4A"/>
                </a:solidFill>
              </a:rPr>
              <a:t>반다이</a:t>
            </a:r>
            <a:r>
              <a:rPr lang="ko-KR" sz="1400" b="1" dirty="0">
                <a:solidFill>
                  <a:srgbClr val="1B2A4A"/>
                </a:solidFill>
              </a:rPr>
              <a:t> </a:t>
            </a:r>
            <a:r>
              <a:rPr lang="ko-KR" sz="1400" b="1" dirty="0" err="1">
                <a:solidFill>
                  <a:srgbClr val="1B2A4A"/>
                </a:solidFill>
              </a:rPr>
              <a:t>다마고치</a:t>
            </a:r>
            <a:endParaRPr lang="ko-KR" sz="1400" b="1" dirty="0">
              <a:solidFill>
                <a:srgbClr val="1B2A4A"/>
              </a:solidFill>
            </a:endParaRPr>
          </a:p>
        </p:txBody>
      </p:sp>
      <p:sp>
        <p:nvSpPr>
          <p:cNvPr id="408" name="t"/>
          <p:cNvSpPr txBox="1"/>
          <p:nvPr/>
        </p:nvSpPr>
        <p:spPr>
          <a:xfrm>
            <a:off x="2362200" y="2179925"/>
            <a:ext cx="2667000" cy="609600"/>
          </a:xfrm>
          <a:prstGeom prst="rect">
            <a:avLst/>
          </a:prstGeom>
          <a:noFill/>
        </p:spPr>
        <p:txBody>
          <a:bodyPr wrap="square" lIns="45720" tIns="45720" rIns="45720" bIns="0" anchor="ctr"/>
          <a:lstStyle/>
          <a:p>
            <a:pPr algn="l"/>
            <a:r>
              <a:rPr lang="ko-KR" sz="1400">
                <a:solidFill>
                  <a:srgbClr val="2E3A4F"/>
                </a:solidFill>
              </a:rPr>
              <a:t>기본 육성 콘셉트</a:t>
            </a:r>
          </a:p>
        </p:txBody>
      </p:sp>
      <p:sp>
        <p:nvSpPr>
          <p:cNvPr id="409" name="t"/>
          <p:cNvSpPr txBox="1"/>
          <p:nvPr/>
        </p:nvSpPr>
        <p:spPr>
          <a:xfrm>
            <a:off x="5029200" y="2179925"/>
            <a:ext cx="6324600" cy="609600"/>
          </a:xfrm>
          <a:prstGeom prst="rect">
            <a:avLst/>
          </a:prstGeom>
          <a:noFill/>
        </p:spPr>
        <p:txBody>
          <a:bodyPr wrap="square" lIns="45720" tIns="45720" rIns="45720" bIns="0" anchor="ctr"/>
          <a:lstStyle/>
          <a:p>
            <a:pPr algn="l"/>
            <a:r>
              <a:rPr lang="ko-KR" sz="1350" dirty="0" err="1">
                <a:solidFill>
                  <a:srgbClr val="2E3A4F"/>
                </a:solidFill>
              </a:rPr>
              <a:t>배고픔·행복도·청결도·건강</a:t>
            </a:r>
            <a:r>
              <a:rPr lang="ko-KR" sz="1350" dirty="0">
                <a:solidFill>
                  <a:srgbClr val="2E3A4F"/>
                </a:solidFill>
              </a:rPr>
              <a:t> 4종 </a:t>
            </a:r>
            <a:r>
              <a:rPr lang="ko-KR" sz="1350" dirty="0" err="1">
                <a:solidFill>
                  <a:srgbClr val="2E3A4F"/>
                </a:solidFill>
              </a:rPr>
              <a:t>스탯</a:t>
            </a:r>
            <a:r>
              <a:rPr lang="ko-KR" sz="1350" dirty="0">
                <a:solidFill>
                  <a:srgbClr val="2E3A4F"/>
                </a:solidFill>
              </a:rPr>
              <a:t> 실시간 관리 로직</a:t>
            </a:r>
          </a:p>
          <a:p>
            <a:pPr algn="l">
              <a:spcBef>
                <a:spcPts val="200"/>
              </a:spcBef>
            </a:pPr>
            <a:r>
              <a:rPr lang="ko-KR" sz="1050" dirty="0">
                <a:solidFill>
                  <a:srgbClr val="8C97A8"/>
                </a:solidFill>
              </a:rPr>
              <a:t>출처 · </a:t>
            </a:r>
            <a:r>
              <a:rPr lang="en-US" sz="1050" dirty="0">
                <a:solidFill>
                  <a:srgbClr val="2563B0"/>
                </a:solidFill>
              </a:rPr>
              <a:t>tamagotchi.fandom.com/wiki/Care</a:t>
            </a:r>
          </a:p>
        </p:txBody>
      </p:sp>
      <p:sp>
        <p:nvSpPr>
          <p:cNvPr id="410" name="r"/>
          <p:cNvSpPr/>
          <p:nvPr/>
        </p:nvSpPr>
        <p:spPr>
          <a:xfrm>
            <a:off x="838200" y="2789525"/>
            <a:ext cx="105156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1" name="t"/>
          <p:cNvSpPr txBox="1"/>
          <p:nvPr/>
        </p:nvSpPr>
        <p:spPr>
          <a:xfrm>
            <a:off x="838200" y="2789525"/>
            <a:ext cx="1524000" cy="609600"/>
          </a:xfrm>
          <a:prstGeom prst="rect">
            <a:avLst/>
          </a:prstGeom>
          <a:noFill/>
        </p:spPr>
        <p:txBody>
          <a:bodyPr wrap="square" lIns="45720" tIns="45720" rIns="45720" bIns="0" anchor="ctr"/>
          <a:lstStyle/>
          <a:p>
            <a:pPr algn="l"/>
            <a:r>
              <a:rPr lang="ko-KR" sz="1400" b="1">
                <a:solidFill>
                  <a:srgbClr val="1B2A4A"/>
                </a:solidFill>
              </a:rPr>
              <a:t>디지몬 월드</a:t>
            </a:r>
          </a:p>
        </p:txBody>
      </p:sp>
      <p:sp>
        <p:nvSpPr>
          <p:cNvPr id="412" name="t"/>
          <p:cNvSpPr txBox="1"/>
          <p:nvPr/>
        </p:nvSpPr>
        <p:spPr>
          <a:xfrm>
            <a:off x="2362200" y="2789525"/>
            <a:ext cx="2667000" cy="609600"/>
          </a:xfrm>
          <a:prstGeom prst="rect">
            <a:avLst/>
          </a:prstGeom>
          <a:noFill/>
        </p:spPr>
        <p:txBody>
          <a:bodyPr wrap="square" lIns="45720" tIns="45720" rIns="45720" bIns="0" anchor="ctr"/>
          <a:lstStyle/>
          <a:p>
            <a:pPr algn="l"/>
            <a:r>
              <a:rPr lang="ko-KR" sz="1400">
                <a:solidFill>
                  <a:srgbClr val="2E3A4F"/>
                </a:solidFill>
              </a:rPr>
              <a:t>목적형 훈련 + 스테이지 클리어</a:t>
            </a:r>
          </a:p>
        </p:txBody>
      </p:sp>
      <p:sp>
        <p:nvSpPr>
          <p:cNvPr id="413" name="t"/>
          <p:cNvSpPr txBox="1"/>
          <p:nvPr/>
        </p:nvSpPr>
        <p:spPr>
          <a:xfrm>
            <a:off x="5029200" y="2789525"/>
            <a:ext cx="6324600" cy="609600"/>
          </a:xfrm>
          <a:prstGeom prst="rect">
            <a:avLst/>
          </a:prstGeom>
          <a:noFill/>
        </p:spPr>
        <p:txBody>
          <a:bodyPr wrap="square" lIns="45720" tIns="45720" rIns="45720" bIns="0" anchor="ctr"/>
          <a:lstStyle/>
          <a:p>
            <a:pPr algn="l"/>
            <a:r>
              <a:rPr lang="ko-KR" sz="1350" dirty="0" err="1">
                <a:solidFill>
                  <a:srgbClr val="2E3A4F"/>
                </a:solidFill>
              </a:rPr>
              <a:t>샌드백·달리기·반응속도</a:t>
            </a:r>
            <a:r>
              <a:rPr lang="ko-KR" sz="1350" dirty="0">
                <a:solidFill>
                  <a:srgbClr val="2E3A4F"/>
                </a:solidFill>
              </a:rPr>
              <a:t> 미니게임 및 5스테이지 해금 구조</a:t>
            </a:r>
          </a:p>
          <a:p>
            <a:pPr algn="l">
              <a:spcBef>
                <a:spcPts val="200"/>
              </a:spcBef>
            </a:pPr>
            <a:r>
              <a:rPr lang="ko-KR" sz="1050" dirty="0">
                <a:solidFill>
                  <a:srgbClr val="8C97A8"/>
                </a:solidFill>
              </a:rPr>
              <a:t>출처 · </a:t>
            </a:r>
            <a:r>
              <a:rPr lang="en-US" sz="1050" dirty="0">
                <a:solidFill>
                  <a:srgbClr val="2563B0"/>
                </a:solidFill>
              </a:rPr>
              <a:t>digimon_world_psx.fandom.com</a:t>
            </a:r>
          </a:p>
        </p:txBody>
      </p:sp>
      <p:sp>
        <p:nvSpPr>
          <p:cNvPr id="414" name="r"/>
          <p:cNvSpPr/>
          <p:nvPr/>
        </p:nvSpPr>
        <p:spPr>
          <a:xfrm>
            <a:off x="838200" y="3399125"/>
            <a:ext cx="10515600" cy="609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5" name="t"/>
          <p:cNvSpPr txBox="1"/>
          <p:nvPr/>
        </p:nvSpPr>
        <p:spPr>
          <a:xfrm>
            <a:off x="838200" y="3399125"/>
            <a:ext cx="1524000" cy="609600"/>
          </a:xfrm>
          <a:prstGeom prst="rect">
            <a:avLst/>
          </a:prstGeom>
          <a:noFill/>
        </p:spPr>
        <p:txBody>
          <a:bodyPr wrap="square" lIns="45720" tIns="45720" rIns="45720" bIns="0" anchor="ctr"/>
          <a:lstStyle/>
          <a:p>
            <a:pPr algn="l"/>
            <a:r>
              <a:rPr lang="ko-KR" sz="1400" b="1">
                <a:solidFill>
                  <a:srgbClr val="1B2A4A"/>
                </a:solidFill>
              </a:rPr>
              <a:t>언더테일</a:t>
            </a:r>
          </a:p>
        </p:txBody>
      </p:sp>
      <p:sp>
        <p:nvSpPr>
          <p:cNvPr id="416" name="t"/>
          <p:cNvSpPr txBox="1"/>
          <p:nvPr/>
        </p:nvSpPr>
        <p:spPr>
          <a:xfrm>
            <a:off x="2362200" y="3399125"/>
            <a:ext cx="2667000" cy="609600"/>
          </a:xfrm>
          <a:prstGeom prst="rect">
            <a:avLst/>
          </a:prstGeom>
          <a:noFill/>
        </p:spPr>
        <p:txBody>
          <a:bodyPr wrap="square" lIns="45720" tIns="45720" rIns="45720" bIns="0" anchor="ctr"/>
          <a:lstStyle/>
          <a:p>
            <a:pPr algn="l"/>
            <a:r>
              <a:rPr lang="ko-KR" sz="1400">
                <a:solidFill>
                  <a:srgbClr val="2E3A4F"/>
                </a:solidFill>
              </a:rPr>
              <a:t>터미널 스타일 전투 UI</a:t>
            </a:r>
          </a:p>
        </p:txBody>
      </p:sp>
      <p:sp>
        <p:nvSpPr>
          <p:cNvPr id="417" name="t"/>
          <p:cNvSpPr txBox="1"/>
          <p:nvPr/>
        </p:nvSpPr>
        <p:spPr>
          <a:xfrm>
            <a:off x="5029200" y="3399125"/>
            <a:ext cx="6324600" cy="609600"/>
          </a:xfrm>
          <a:prstGeom prst="rect">
            <a:avLst/>
          </a:prstGeom>
          <a:noFill/>
        </p:spPr>
        <p:txBody>
          <a:bodyPr wrap="square" lIns="45720" tIns="45720" rIns="45720" bIns="0" anchor="ctr"/>
          <a:lstStyle/>
          <a:p>
            <a:pPr algn="l"/>
            <a:r>
              <a:rPr lang="ko-KR" sz="1350">
                <a:solidFill>
                  <a:srgbClr val="2E3A4F"/>
                </a:solidFill>
              </a:rPr>
              <a:t>ASCII 아트 전투 화면, 텍스트 기반 전략적 선택지</a:t>
            </a:r>
          </a:p>
          <a:p>
            <a:pPr algn="l">
              <a:spcBef>
                <a:spcPts val="200"/>
              </a:spcBef>
            </a:pPr>
            <a:r>
              <a:rPr lang="ko-KR" sz="1050">
                <a:solidFill>
                  <a:srgbClr val="8C97A8"/>
                </a:solidFill>
              </a:rPr>
              <a:t>출처 · </a:t>
            </a:r>
            <a:r>
              <a:rPr lang="en-US" sz="1050">
                <a:solidFill>
                  <a:srgbClr val="2563B0"/>
                </a:solidFill>
              </a:rPr>
              <a:t>gamedeveloper.com/design</a:t>
            </a:r>
          </a:p>
        </p:txBody>
      </p:sp>
      <p:sp>
        <p:nvSpPr>
          <p:cNvPr id="418" name="r"/>
          <p:cNvSpPr/>
          <p:nvPr/>
        </p:nvSpPr>
        <p:spPr>
          <a:xfrm>
            <a:off x="838200" y="4084925"/>
            <a:ext cx="10515600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9" name="t"/>
          <p:cNvSpPr txBox="1"/>
          <p:nvPr/>
        </p:nvSpPr>
        <p:spPr>
          <a:xfrm>
            <a:off x="838200" y="4211925"/>
            <a:ext cx="5080000" cy="279400"/>
          </a:xfrm>
          <a:prstGeom prst="rect">
            <a:avLst/>
          </a:prstGeom>
          <a:noFill/>
        </p:spPr>
        <p:txBody>
          <a:bodyPr wrap="square" lIns="45720" tIns="0" rIns="45720" bIns="0" anchor="ctr"/>
          <a:lstStyle/>
          <a:p>
            <a:pPr algn="l"/>
            <a:r>
              <a:rPr lang="ko-KR" sz="1400" b="1">
                <a:solidFill>
                  <a:srgbClr val="2563B0"/>
                </a:solidFill>
              </a:rPr>
              <a:t>개발 환경  DEVELOPMENT ENVIRONMENT</a:t>
            </a:r>
          </a:p>
        </p:txBody>
      </p:sp>
      <p:sp>
        <p:nvSpPr>
          <p:cNvPr id="420" name="r"/>
          <p:cNvSpPr/>
          <p:nvPr/>
        </p:nvSpPr>
        <p:spPr>
          <a:xfrm>
            <a:off x="838200" y="4491325"/>
            <a:ext cx="5105400" cy="1721272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1" name="r"/>
          <p:cNvSpPr/>
          <p:nvPr/>
        </p:nvSpPr>
        <p:spPr>
          <a:xfrm>
            <a:off x="838200" y="4491325"/>
            <a:ext cx="5105400" cy="508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2" name="t"/>
          <p:cNvSpPr txBox="1"/>
          <p:nvPr/>
        </p:nvSpPr>
        <p:spPr>
          <a:xfrm>
            <a:off x="838200" y="4567525"/>
            <a:ext cx="5105400" cy="1645072"/>
          </a:xfrm>
          <a:prstGeom prst="rect">
            <a:avLst/>
          </a:prstGeom>
          <a:noFill/>
        </p:spPr>
        <p:txBody>
          <a:bodyPr wrap="square" lIns="45720" tIns="0" rIns="45720" bIns="0" anchor="t"/>
          <a:lstStyle/>
          <a:p>
            <a:pPr>
              <a:spcBef>
                <a:spcPts val="500"/>
              </a:spcBef>
            </a:pPr>
            <a:r>
              <a:rPr lang="ko-KR" sz="1500" b="1" dirty="0">
                <a:solidFill>
                  <a:srgbClr val="1B2A4A"/>
                </a:solidFill>
              </a:rPr>
              <a:t>빌드 환경</a:t>
            </a:r>
          </a:p>
          <a:p>
            <a:pPr marL="158400" indent="-158400">
              <a:lnSpc>
                <a:spcPts val="185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b="1" dirty="0">
                <a:solidFill>
                  <a:srgbClr val="2563B0"/>
                </a:solidFill>
              </a:rPr>
              <a:t>언어  </a:t>
            </a:r>
            <a:r>
              <a:rPr lang="ko-KR" sz="1400" dirty="0">
                <a:solidFill>
                  <a:srgbClr val="2E3A4F"/>
                </a:solidFill>
              </a:rPr>
              <a:t>C++17</a:t>
            </a:r>
          </a:p>
          <a:p>
            <a:pPr marL="158400" indent="-158400">
              <a:lnSpc>
                <a:spcPts val="185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b="1" dirty="0">
                <a:solidFill>
                  <a:srgbClr val="2563B0"/>
                </a:solidFill>
              </a:rPr>
              <a:t>컴파일러  </a:t>
            </a:r>
            <a:r>
              <a:rPr lang="ko-KR" sz="1400" dirty="0">
                <a:solidFill>
                  <a:srgbClr val="2E3A4F"/>
                </a:solidFill>
              </a:rPr>
              <a:t>GCC (</a:t>
            </a:r>
            <a:r>
              <a:rPr lang="ko-KR" sz="1400" dirty="0" err="1">
                <a:solidFill>
                  <a:srgbClr val="2E3A4F"/>
                </a:solidFill>
              </a:rPr>
              <a:t>g</a:t>
            </a:r>
            <a:r>
              <a:rPr lang="ko-KR" sz="1400" dirty="0">
                <a:solidFill>
                  <a:srgbClr val="2E3A4F"/>
                </a:solidFill>
              </a:rPr>
              <a:t>++ -</a:t>
            </a:r>
            <a:r>
              <a:rPr lang="ko-KR" sz="1400" dirty="0" err="1">
                <a:solidFill>
                  <a:srgbClr val="2E3A4F"/>
                </a:solidFill>
              </a:rPr>
              <a:t>std</a:t>
            </a:r>
            <a:r>
              <a:rPr lang="ko-KR" sz="1400" dirty="0">
                <a:solidFill>
                  <a:srgbClr val="2E3A4F"/>
                </a:solidFill>
              </a:rPr>
              <a:t>=c++17)</a:t>
            </a:r>
          </a:p>
          <a:p>
            <a:pPr marL="158400" indent="-158400">
              <a:lnSpc>
                <a:spcPts val="185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b="1" dirty="0">
                <a:solidFill>
                  <a:srgbClr val="2563B0"/>
                </a:solidFill>
              </a:rPr>
              <a:t>빌드  </a:t>
            </a:r>
            <a:r>
              <a:rPr lang="ko-KR" sz="1400" dirty="0">
                <a:solidFill>
                  <a:srgbClr val="2E3A4F"/>
                </a:solidFill>
              </a:rPr>
              <a:t>셸 스크립트 build.sh</a:t>
            </a:r>
          </a:p>
          <a:p>
            <a:pPr marL="158400" indent="-158400">
              <a:lnSpc>
                <a:spcPts val="185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b="1" dirty="0">
                <a:solidFill>
                  <a:srgbClr val="2563B0"/>
                </a:solidFill>
              </a:rPr>
              <a:t>OS  </a:t>
            </a:r>
            <a:r>
              <a:rPr lang="ko-KR" sz="1400" dirty="0" err="1">
                <a:solidFill>
                  <a:srgbClr val="2E3A4F"/>
                </a:solidFill>
              </a:rPr>
              <a:t>Linux</a:t>
            </a:r>
            <a:r>
              <a:rPr lang="ko-KR" sz="1400" dirty="0">
                <a:solidFill>
                  <a:srgbClr val="2E3A4F"/>
                </a:solidFill>
              </a:rPr>
              <a:t> WSL2 (</a:t>
            </a:r>
            <a:r>
              <a:rPr lang="ko-KR" sz="1400" dirty="0" err="1">
                <a:solidFill>
                  <a:srgbClr val="2E3A4F"/>
                </a:solidFill>
              </a:rPr>
              <a:t>Ubuntu</a:t>
            </a:r>
            <a:r>
              <a:rPr lang="ko-KR" sz="1400" dirty="0">
                <a:solidFill>
                  <a:srgbClr val="2E3A4F"/>
                </a:solidFill>
              </a:rPr>
              <a:t>)</a:t>
            </a:r>
          </a:p>
          <a:p>
            <a:pPr marL="158400" indent="-158400">
              <a:lnSpc>
                <a:spcPts val="185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b="1" dirty="0">
                <a:solidFill>
                  <a:srgbClr val="2563B0"/>
                </a:solidFill>
              </a:rPr>
              <a:t>IDE  </a:t>
            </a:r>
            <a:r>
              <a:rPr lang="ko-KR" sz="1400" dirty="0">
                <a:solidFill>
                  <a:srgbClr val="2E3A4F"/>
                </a:solidFill>
              </a:rPr>
              <a:t>VS </a:t>
            </a:r>
            <a:r>
              <a:rPr lang="ko-KR" sz="1400" dirty="0" err="1">
                <a:solidFill>
                  <a:srgbClr val="2E3A4F"/>
                </a:solidFill>
              </a:rPr>
              <a:t>Code</a:t>
            </a:r>
            <a:r>
              <a:rPr lang="ko-KR" sz="1400" dirty="0">
                <a:solidFill>
                  <a:srgbClr val="2E3A4F"/>
                </a:solidFill>
              </a:rPr>
              <a:t> + WSL 원격</a:t>
            </a:r>
          </a:p>
        </p:txBody>
      </p:sp>
      <p:sp>
        <p:nvSpPr>
          <p:cNvPr id="423" name="r"/>
          <p:cNvSpPr/>
          <p:nvPr/>
        </p:nvSpPr>
        <p:spPr>
          <a:xfrm>
            <a:off x="6248400" y="4491325"/>
            <a:ext cx="5105400" cy="1721272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4" name="r"/>
          <p:cNvSpPr/>
          <p:nvPr/>
        </p:nvSpPr>
        <p:spPr>
          <a:xfrm>
            <a:off x="6248400" y="4491325"/>
            <a:ext cx="5105400" cy="508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5" name="t"/>
          <p:cNvSpPr txBox="1"/>
          <p:nvPr/>
        </p:nvSpPr>
        <p:spPr>
          <a:xfrm>
            <a:off x="6248400" y="4567525"/>
            <a:ext cx="5105400" cy="1645072"/>
          </a:xfrm>
          <a:prstGeom prst="rect">
            <a:avLst/>
          </a:prstGeom>
          <a:noFill/>
        </p:spPr>
        <p:txBody>
          <a:bodyPr wrap="square" lIns="45720" tIns="0" rIns="45720" bIns="0" anchor="t"/>
          <a:lstStyle/>
          <a:p>
            <a:pPr>
              <a:spcBef>
                <a:spcPts val="500"/>
              </a:spcBef>
            </a:pPr>
            <a:r>
              <a:rPr lang="ko-KR" sz="1500" b="1" dirty="0">
                <a:solidFill>
                  <a:srgbClr val="1B2A4A"/>
                </a:solidFill>
              </a:rPr>
              <a:t>라이브러리 &amp; 도구</a:t>
            </a:r>
          </a:p>
          <a:p>
            <a:pPr marL="158400" indent="-158400">
              <a:lnSpc>
                <a:spcPts val="185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b="1" dirty="0" err="1">
                <a:solidFill>
                  <a:srgbClr val="2563B0"/>
                </a:solidFill>
              </a:rPr>
              <a:t>termios.h</a:t>
            </a:r>
            <a:r>
              <a:rPr lang="ko-KR" sz="1400" b="1" dirty="0">
                <a:solidFill>
                  <a:srgbClr val="2563B0"/>
                </a:solidFill>
              </a:rPr>
              <a:t>  </a:t>
            </a:r>
            <a:r>
              <a:rPr lang="ko-KR" sz="1400" dirty="0">
                <a:solidFill>
                  <a:srgbClr val="2E3A4F"/>
                </a:solidFill>
              </a:rPr>
              <a:t>터미널 </a:t>
            </a:r>
            <a:r>
              <a:rPr lang="ko-KR" sz="1400" dirty="0" err="1">
                <a:solidFill>
                  <a:srgbClr val="2E3A4F"/>
                </a:solidFill>
              </a:rPr>
              <a:t>raw</a:t>
            </a:r>
            <a:r>
              <a:rPr lang="ko-KR" sz="1400" dirty="0">
                <a:solidFill>
                  <a:srgbClr val="2E3A4F"/>
                </a:solidFill>
              </a:rPr>
              <a:t> </a:t>
            </a:r>
            <a:r>
              <a:rPr lang="ko-KR" sz="1400" dirty="0" err="1">
                <a:solidFill>
                  <a:srgbClr val="2E3A4F"/>
                </a:solidFill>
              </a:rPr>
              <a:t>mode</a:t>
            </a:r>
            <a:endParaRPr lang="ko-KR" sz="1400" dirty="0">
              <a:solidFill>
                <a:srgbClr val="2E3A4F"/>
              </a:solidFill>
            </a:endParaRPr>
          </a:p>
          <a:p>
            <a:pPr marL="158400" indent="-158400">
              <a:lnSpc>
                <a:spcPts val="185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b="1" dirty="0" err="1">
                <a:solidFill>
                  <a:srgbClr val="2563B0"/>
                </a:solidFill>
              </a:rPr>
              <a:t>chrono</a:t>
            </a:r>
            <a:r>
              <a:rPr lang="ko-KR" sz="1400" b="1" dirty="0">
                <a:solidFill>
                  <a:srgbClr val="2563B0"/>
                </a:solidFill>
              </a:rPr>
              <a:t>  </a:t>
            </a:r>
            <a:r>
              <a:rPr lang="ko-KR" sz="1400" dirty="0" err="1">
                <a:solidFill>
                  <a:srgbClr val="2E3A4F"/>
                </a:solidFill>
              </a:rPr>
              <a:t>논블로킹</a:t>
            </a:r>
            <a:r>
              <a:rPr lang="ko-KR" sz="1400" dirty="0">
                <a:solidFill>
                  <a:srgbClr val="2E3A4F"/>
                </a:solidFill>
              </a:rPr>
              <a:t> 타이머</a:t>
            </a:r>
          </a:p>
          <a:p>
            <a:pPr marL="158400" indent="-158400">
              <a:lnSpc>
                <a:spcPts val="185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b="1" dirty="0" err="1">
                <a:solidFill>
                  <a:srgbClr val="2563B0"/>
                </a:solidFill>
              </a:rPr>
              <a:t>memory</a:t>
            </a:r>
            <a:r>
              <a:rPr lang="ko-KR" sz="1400" b="1" dirty="0">
                <a:solidFill>
                  <a:srgbClr val="2563B0"/>
                </a:solidFill>
              </a:rPr>
              <a:t>  </a:t>
            </a:r>
            <a:r>
              <a:rPr lang="ko-KR" sz="1400" dirty="0" err="1">
                <a:solidFill>
                  <a:srgbClr val="2E3A4F"/>
                </a:solidFill>
              </a:rPr>
              <a:t>unique_ptr</a:t>
            </a:r>
            <a:r>
              <a:rPr lang="ko-KR" sz="1400" dirty="0">
                <a:solidFill>
                  <a:srgbClr val="2E3A4F"/>
                </a:solidFill>
              </a:rPr>
              <a:t> 스마트 포인터</a:t>
            </a:r>
          </a:p>
          <a:p>
            <a:pPr marL="158400" indent="-158400">
              <a:lnSpc>
                <a:spcPts val="185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b="1" dirty="0" err="1">
                <a:solidFill>
                  <a:srgbClr val="2563B0"/>
                </a:solidFill>
              </a:rPr>
              <a:t>vector·array</a:t>
            </a:r>
            <a:r>
              <a:rPr lang="ko-KR" sz="1400" b="1" dirty="0">
                <a:solidFill>
                  <a:srgbClr val="2563B0"/>
                </a:solidFill>
              </a:rPr>
              <a:t>  </a:t>
            </a:r>
            <a:r>
              <a:rPr lang="ko-KR" sz="1400" dirty="0">
                <a:solidFill>
                  <a:srgbClr val="2E3A4F"/>
                </a:solidFill>
              </a:rPr>
              <a:t>컨테이너</a:t>
            </a:r>
          </a:p>
          <a:p>
            <a:pPr marL="158400" indent="-158400">
              <a:lnSpc>
                <a:spcPts val="1850"/>
              </a:lnSpc>
              <a:spcBef>
                <a:spcPts val="300"/>
              </a:spcBef>
              <a:buFont typeface="Arial"/>
              <a:buChar char="•"/>
            </a:pPr>
            <a:r>
              <a:rPr lang="ko-KR" sz="1400" b="1" dirty="0" err="1">
                <a:solidFill>
                  <a:srgbClr val="2563B0"/>
                </a:solidFill>
              </a:rPr>
              <a:t>Git</a:t>
            </a:r>
            <a:r>
              <a:rPr lang="ko-KR" sz="1400" b="1" dirty="0">
                <a:solidFill>
                  <a:srgbClr val="2563B0"/>
                </a:solidFill>
              </a:rPr>
              <a:t> / GitHub  </a:t>
            </a:r>
            <a:r>
              <a:rPr lang="ko-KR" sz="1400" dirty="0">
                <a:solidFill>
                  <a:srgbClr val="2E3A4F"/>
                </a:solidFill>
              </a:rPr>
              <a:t>버전 관리</a:t>
            </a:r>
          </a:p>
        </p:txBody>
      </p:sp>
    </p:spTree>
    <p:extLst>
      <p:ext uri="{BB962C8B-B14F-4D97-AF65-F5344CB8AC3E}">
        <p14:creationId xmlns:p14="http://schemas.microsoft.com/office/powerpoint/2010/main" val="3187081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35DE4-98CC-5AE7-ED9C-A621D9AA3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10515600" cy="711200"/>
          </a:xfrm>
        </p:spPr>
        <p:txBody>
          <a:bodyPr/>
          <a:lstStyle/>
          <a:p>
            <a:pPr algn="l"/>
            <a:r>
              <a:rPr lang="ko-KR" sz="3000" b="1">
                <a:solidFill>
                  <a:srgbClr val="1B2A4A"/>
                </a:solidFill>
              </a:rPr>
              <a:t>시스템 아키텍처</a:t>
            </a:r>
            <a:r>
              <a:rPr lang="en-US" sz="3000" b="1">
                <a:solidFill>
                  <a:srgbClr val="5B8FD4"/>
                </a:solidFill>
              </a:rPr>
              <a:t>  ·  MVC</a:t>
            </a:r>
          </a:p>
        </p:txBody>
      </p:sp>
      <p:sp>
        <p:nvSpPr>
          <p:cNvPr id="501" name="t"/>
          <p:cNvSpPr txBox="1"/>
          <p:nvPr/>
        </p:nvSpPr>
        <p:spPr>
          <a:xfrm>
            <a:off x="838200" y="1498600"/>
            <a:ext cx="10515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500">
                <a:solidFill>
                  <a:srgbClr val="2E3A4F"/>
                </a:solidFill>
              </a:rPr>
              <a:t>Model·View·Controller로 책임을 분리해 화면 전환과 데이터 관리를 독립적으로 구성했다.</a:t>
            </a:r>
          </a:p>
        </p:txBody>
      </p:sp>
      <p:sp>
        <p:nvSpPr>
          <p:cNvPr id="502" name="r"/>
          <p:cNvSpPr/>
          <p:nvPr/>
        </p:nvSpPr>
        <p:spPr>
          <a:xfrm>
            <a:off x="838200" y="1905000"/>
            <a:ext cx="3327400" cy="3479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9525">
            <a:solidFill>
              <a:srgbClr val="E1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3" name="r"/>
          <p:cNvSpPr/>
          <p:nvPr/>
        </p:nvSpPr>
        <p:spPr>
          <a:xfrm>
            <a:off x="838200" y="1905000"/>
            <a:ext cx="3327400" cy="5842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" name="t"/>
          <p:cNvSpPr txBox="1"/>
          <p:nvPr/>
        </p:nvSpPr>
        <p:spPr>
          <a:xfrm>
            <a:off x="838200" y="1981200"/>
            <a:ext cx="33274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b="1" spc="100">
                <a:solidFill>
                  <a:srgbClr val="FFFFFF"/>
                </a:solidFill>
              </a:rPr>
              <a:t>MODEL</a:t>
            </a:r>
            <a:r>
              <a:rPr lang="ko-KR" sz="1100">
                <a:solidFill>
                  <a:srgbClr val="DCE6F2"/>
                </a:solidFill>
              </a:rPr>
              <a:t>  데이터 계층</a:t>
            </a:r>
          </a:p>
        </p:txBody>
      </p:sp>
      <p:sp>
        <p:nvSpPr>
          <p:cNvPr id="505" name="t"/>
          <p:cNvSpPr txBox="1"/>
          <p:nvPr/>
        </p:nvSpPr>
        <p:spPr>
          <a:xfrm>
            <a:off x="1041400" y="2616200"/>
            <a:ext cx="2921000" cy="266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Bef>
                <a:spcPts val="400"/>
              </a:spcBef>
            </a:pPr>
            <a:r>
              <a:rPr lang="en-US" sz="1450" b="1" dirty="0">
                <a:solidFill>
                  <a:srgbClr val="1B2A4A"/>
                </a:solidFill>
              </a:rPr>
              <a:t>Character</a:t>
            </a:r>
          </a:p>
          <a:p>
            <a:pPr marL="0" indent="0">
              <a:lnSpc>
                <a:spcPts val="1600"/>
              </a:lnSpc>
              <a:spcBef>
                <a:spcPts val="100"/>
              </a:spcBef>
            </a:pPr>
            <a:r>
              <a:rPr lang="ko-KR" sz="1250" dirty="0">
                <a:solidFill>
                  <a:srgbClr val="55617A"/>
                </a:solidFill>
              </a:rPr>
              <a:t>플레이어 </a:t>
            </a:r>
            <a:r>
              <a:rPr lang="ko-KR" sz="1250" dirty="0" err="1">
                <a:solidFill>
                  <a:srgbClr val="55617A"/>
                </a:solidFill>
              </a:rPr>
              <a:t>스탯·장비·아이템</a:t>
            </a:r>
            <a:endParaRPr lang="ko-KR" sz="1250" dirty="0">
              <a:solidFill>
                <a:srgbClr val="55617A"/>
              </a:solidFill>
            </a:endParaRPr>
          </a:p>
          <a:p>
            <a:pPr marL="0" indent="0">
              <a:spcBef>
                <a:spcPts val="900"/>
              </a:spcBef>
            </a:pPr>
            <a:r>
              <a:rPr lang="en-US" sz="1450" b="1" dirty="0">
                <a:solidFill>
                  <a:srgbClr val="1B2A4A"/>
                </a:solidFill>
              </a:rPr>
              <a:t>Monster</a:t>
            </a:r>
          </a:p>
          <a:p>
            <a:pPr marL="0" indent="0">
              <a:lnSpc>
                <a:spcPts val="1600"/>
              </a:lnSpc>
              <a:spcBef>
                <a:spcPts val="100"/>
              </a:spcBef>
            </a:pPr>
            <a:r>
              <a:rPr lang="ko-KR" sz="1250" dirty="0">
                <a:solidFill>
                  <a:srgbClr val="55617A"/>
                </a:solidFill>
              </a:rPr>
              <a:t>스테이지별 </a:t>
            </a:r>
            <a:r>
              <a:rPr lang="ko-KR" sz="1250" dirty="0" err="1">
                <a:solidFill>
                  <a:srgbClr val="55617A"/>
                </a:solidFill>
              </a:rPr>
              <a:t>HP·ATK·회피율</a:t>
            </a:r>
            <a:endParaRPr lang="ko-KR" sz="1250" dirty="0">
              <a:solidFill>
                <a:srgbClr val="55617A"/>
              </a:solidFill>
            </a:endParaRPr>
          </a:p>
          <a:p>
            <a:pPr marL="0" indent="0">
              <a:spcBef>
                <a:spcPts val="900"/>
              </a:spcBef>
            </a:pPr>
            <a:r>
              <a:rPr lang="en-US" sz="1450" b="1" dirty="0">
                <a:solidFill>
                  <a:srgbClr val="1B2A4A"/>
                </a:solidFill>
              </a:rPr>
              <a:t>Equipment · Item</a:t>
            </a:r>
          </a:p>
          <a:p>
            <a:pPr marL="0" indent="0">
              <a:lnSpc>
                <a:spcPts val="1600"/>
              </a:lnSpc>
              <a:spcBef>
                <a:spcPts val="100"/>
              </a:spcBef>
            </a:pPr>
            <a:r>
              <a:rPr lang="ko-KR" sz="1250" dirty="0">
                <a:solidFill>
                  <a:srgbClr val="55617A"/>
                </a:solidFill>
              </a:rPr>
              <a:t>정적 </a:t>
            </a:r>
            <a:r>
              <a:rPr lang="ko-KR" sz="1250" dirty="0" err="1">
                <a:solidFill>
                  <a:srgbClr val="55617A"/>
                </a:solidFill>
              </a:rPr>
              <a:t>티어·효과</a:t>
            </a:r>
            <a:r>
              <a:rPr lang="ko-KR" sz="1250" dirty="0">
                <a:solidFill>
                  <a:srgbClr val="55617A"/>
                </a:solidFill>
              </a:rPr>
              <a:t> 테이블</a:t>
            </a:r>
          </a:p>
        </p:txBody>
      </p:sp>
      <p:sp>
        <p:nvSpPr>
          <p:cNvPr id="506" name="r"/>
          <p:cNvSpPr/>
          <p:nvPr/>
        </p:nvSpPr>
        <p:spPr>
          <a:xfrm>
            <a:off x="4419600" y="1905000"/>
            <a:ext cx="3327400" cy="3479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9525">
            <a:solidFill>
              <a:srgbClr val="E1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7" name="r"/>
          <p:cNvSpPr/>
          <p:nvPr/>
        </p:nvSpPr>
        <p:spPr>
          <a:xfrm>
            <a:off x="4419600" y="1905000"/>
            <a:ext cx="3327400" cy="584200"/>
          </a:xfrm>
          <a:prstGeom prst="rect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8" name="t"/>
          <p:cNvSpPr txBox="1"/>
          <p:nvPr/>
        </p:nvSpPr>
        <p:spPr>
          <a:xfrm>
            <a:off x="4419600" y="1981200"/>
            <a:ext cx="33274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b="1" spc="100">
                <a:solidFill>
                  <a:srgbClr val="FFFFFF"/>
                </a:solidFill>
              </a:rPr>
              <a:t>VIEW</a:t>
            </a:r>
            <a:r>
              <a:rPr lang="ko-KR" sz="1100">
                <a:solidFill>
                  <a:srgbClr val="DCE6F2"/>
                </a:solidFill>
              </a:rPr>
              <a:t>  렌더링 계층</a:t>
            </a:r>
          </a:p>
        </p:txBody>
      </p:sp>
      <p:sp>
        <p:nvSpPr>
          <p:cNvPr id="509" name="t"/>
          <p:cNvSpPr txBox="1"/>
          <p:nvPr/>
        </p:nvSpPr>
        <p:spPr>
          <a:xfrm>
            <a:off x="4622800" y="2616200"/>
            <a:ext cx="2921000" cy="266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Bef>
                <a:spcPts val="400"/>
              </a:spcBef>
            </a:pPr>
            <a:r>
              <a:rPr lang="en-US" sz="1450" b="1" dirty="0">
                <a:solidFill>
                  <a:srgbClr val="1B2A4A"/>
                </a:solidFill>
              </a:rPr>
              <a:t>Renderer</a:t>
            </a:r>
          </a:p>
          <a:p>
            <a:pPr marL="0" indent="0">
              <a:lnSpc>
                <a:spcPts val="1600"/>
              </a:lnSpc>
              <a:spcBef>
                <a:spcPts val="100"/>
              </a:spcBef>
            </a:pPr>
            <a:r>
              <a:rPr lang="ko-KR" sz="1250" dirty="0">
                <a:solidFill>
                  <a:srgbClr val="55617A"/>
                </a:solidFill>
              </a:rPr>
              <a:t>정적 유틸리티 클래스</a:t>
            </a:r>
          </a:p>
          <a:p>
            <a:pPr marL="0" indent="0">
              <a:spcBef>
                <a:spcPts val="900"/>
              </a:spcBef>
            </a:pPr>
            <a:r>
              <a:rPr lang="en-US" sz="1450" b="1" dirty="0">
                <a:solidFill>
                  <a:srgbClr val="1B2A4A"/>
                </a:solidFill>
              </a:rPr>
              <a:t>ANSI · ASCII</a:t>
            </a:r>
          </a:p>
          <a:p>
            <a:pPr marL="0" indent="0">
              <a:lnSpc>
                <a:spcPts val="1600"/>
              </a:lnSpc>
              <a:spcBef>
                <a:spcPts val="100"/>
              </a:spcBef>
            </a:pPr>
            <a:r>
              <a:rPr lang="ko-KR" sz="1250" dirty="0" err="1">
                <a:solidFill>
                  <a:srgbClr val="55617A"/>
                </a:solidFill>
              </a:rPr>
              <a:t>색상·아트</a:t>
            </a:r>
            <a:r>
              <a:rPr lang="ko-KR" sz="1250" dirty="0">
                <a:solidFill>
                  <a:srgbClr val="55617A"/>
                </a:solidFill>
              </a:rPr>
              <a:t> 렌더링</a:t>
            </a:r>
          </a:p>
          <a:p>
            <a:pPr marL="0" indent="0">
              <a:spcBef>
                <a:spcPts val="900"/>
              </a:spcBef>
            </a:pPr>
            <a:r>
              <a:rPr lang="en-US" sz="1450" b="1" dirty="0">
                <a:solidFill>
                  <a:srgbClr val="1B2A4A"/>
                </a:solidFill>
              </a:rPr>
              <a:t>UTF-8 / CJK</a:t>
            </a:r>
          </a:p>
          <a:p>
            <a:pPr marL="0" indent="0">
              <a:lnSpc>
                <a:spcPts val="1600"/>
              </a:lnSpc>
              <a:spcBef>
                <a:spcPts val="100"/>
              </a:spcBef>
            </a:pPr>
            <a:r>
              <a:rPr lang="ko-KR" sz="1250" dirty="0">
                <a:solidFill>
                  <a:srgbClr val="55617A"/>
                </a:solidFill>
              </a:rPr>
              <a:t>문자 너비 계산</a:t>
            </a:r>
          </a:p>
          <a:p>
            <a:pPr marL="0" indent="0">
              <a:spcBef>
                <a:spcPts val="900"/>
              </a:spcBef>
            </a:pPr>
            <a:r>
              <a:rPr lang="en-US" sz="1450" b="1" dirty="0">
                <a:solidFill>
                  <a:srgbClr val="1B2A4A"/>
                </a:solidFill>
              </a:rPr>
              <a:t>Layout Helper</a:t>
            </a:r>
          </a:p>
          <a:p>
            <a:pPr marL="0" indent="0">
              <a:lnSpc>
                <a:spcPts val="1600"/>
              </a:lnSpc>
              <a:spcBef>
                <a:spcPts val="100"/>
              </a:spcBef>
            </a:pPr>
            <a:r>
              <a:rPr lang="ko-KR" sz="1250" dirty="0">
                <a:solidFill>
                  <a:srgbClr val="55617A"/>
                </a:solidFill>
              </a:rPr>
              <a:t>화면 레이아웃 구성</a:t>
            </a:r>
          </a:p>
        </p:txBody>
      </p:sp>
      <p:sp>
        <p:nvSpPr>
          <p:cNvPr id="510" name="r"/>
          <p:cNvSpPr/>
          <p:nvPr/>
        </p:nvSpPr>
        <p:spPr>
          <a:xfrm>
            <a:off x="8001000" y="1905000"/>
            <a:ext cx="3352800" cy="3479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9525">
            <a:solidFill>
              <a:srgbClr val="E1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1" name="r"/>
          <p:cNvSpPr/>
          <p:nvPr/>
        </p:nvSpPr>
        <p:spPr>
          <a:xfrm>
            <a:off x="8001000" y="1905000"/>
            <a:ext cx="3352800" cy="584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2" name="t"/>
          <p:cNvSpPr txBox="1"/>
          <p:nvPr/>
        </p:nvSpPr>
        <p:spPr>
          <a:xfrm>
            <a:off x="8001000" y="1981200"/>
            <a:ext cx="33528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b="1" spc="100">
                <a:solidFill>
                  <a:srgbClr val="FFFFFF"/>
                </a:solidFill>
              </a:rPr>
              <a:t>CONTROLLER</a:t>
            </a:r>
            <a:r>
              <a:rPr lang="ko-KR" sz="1100">
                <a:solidFill>
                  <a:srgbClr val="DCE6F2"/>
                </a:solidFill>
              </a:rPr>
              <a:t>  제어 계층</a:t>
            </a:r>
          </a:p>
        </p:txBody>
      </p:sp>
      <p:sp>
        <p:nvSpPr>
          <p:cNvPr id="513" name="t"/>
          <p:cNvSpPr txBox="1"/>
          <p:nvPr/>
        </p:nvSpPr>
        <p:spPr>
          <a:xfrm>
            <a:off x="8204200" y="2616200"/>
            <a:ext cx="2946400" cy="266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Bef>
                <a:spcPts val="400"/>
              </a:spcBef>
            </a:pPr>
            <a:r>
              <a:rPr lang="en-US" sz="1450" b="1" dirty="0" err="1">
                <a:solidFill>
                  <a:srgbClr val="1B2A4A"/>
                </a:solidFill>
              </a:rPr>
              <a:t>GameEngine</a:t>
            </a:r>
            <a:endParaRPr lang="en-US" sz="1450" b="1" dirty="0">
              <a:solidFill>
                <a:srgbClr val="1B2A4A"/>
              </a:solidFill>
            </a:endParaRPr>
          </a:p>
          <a:p>
            <a:pPr marL="0" indent="0">
              <a:lnSpc>
                <a:spcPts val="1600"/>
              </a:lnSpc>
              <a:spcBef>
                <a:spcPts val="100"/>
              </a:spcBef>
            </a:pPr>
            <a:r>
              <a:rPr lang="ko-KR" sz="1250" dirty="0">
                <a:solidFill>
                  <a:srgbClr val="55617A"/>
                </a:solidFill>
              </a:rPr>
              <a:t>게임 </a:t>
            </a:r>
            <a:r>
              <a:rPr lang="ko-KR" sz="1250" dirty="0" err="1">
                <a:solidFill>
                  <a:srgbClr val="55617A"/>
                </a:solidFill>
              </a:rPr>
              <a:t>루프·화면</a:t>
            </a:r>
            <a:r>
              <a:rPr lang="ko-KR" sz="1250" dirty="0">
                <a:solidFill>
                  <a:srgbClr val="55617A"/>
                </a:solidFill>
              </a:rPr>
              <a:t> 전환</a:t>
            </a:r>
          </a:p>
          <a:p>
            <a:pPr marL="0" indent="0">
              <a:spcBef>
                <a:spcPts val="900"/>
              </a:spcBef>
            </a:pPr>
            <a:r>
              <a:rPr lang="en-US" sz="1450" b="1" dirty="0" err="1">
                <a:solidFill>
                  <a:srgbClr val="1B2A4A"/>
                </a:solidFill>
              </a:rPr>
              <a:t>InputHandler</a:t>
            </a:r>
            <a:endParaRPr lang="en-US" sz="1450" b="1" dirty="0">
              <a:solidFill>
                <a:srgbClr val="1B2A4A"/>
              </a:solidFill>
            </a:endParaRPr>
          </a:p>
          <a:p>
            <a:pPr marL="0" indent="0">
              <a:lnSpc>
                <a:spcPts val="1600"/>
              </a:lnSpc>
              <a:spcBef>
                <a:spcPts val="100"/>
              </a:spcBef>
            </a:pPr>
            <a:r>
              <a:rPr lang="ko-KR" sz="1250" dirty="0">
                <a:solidFill>
                  <a:srgbClr val="55617A"/>
                </a:solidFill>
              </a:rPr>
              <a:t>입력 이벤트 처리</a:t>
            </a:r>
          </a:p>
          <a:p>
            <a:pPr marL="0" indent="0">
              <a:spcBef>
                <a:spcPts val="900"/>
              </a:spcBef>
            </a:pPr>
            <a:r>
              <a:rPr lang="en-US" sz="1450" b="1" dirty="0">
                <a:solidFill>
                  <a:srgbClr val="1B2A4A"/>
                </a:solidFill>
              </a:rPr>
              <a:t>Screen (</a:t>
            </a:r>
            <a:r>
              <a:rPr lang="en-US" sz="1450" b="1" dirty="0" err="1">
                <a:solidFill>
                  <a:srgbClr val="1B2A4A"/>
                </a:solidFill>
              </a:rPr>
              <a:t>추상</a:t>
            </a:r>
            <a:r>
              <a:rPr lang="en-US" sz="1450" b="1" dirty="0">
                <a:solidFill>
                  <a:srgbClr val="1B2A4A"/>
                </a:solidFill>
              </a:rPr>
              <a:t>)</a:t>
            </a:r>
          </a:p>
          <a:p>
            <a:pPr marL="0" indent="0">
              <a:lnSpc>
                <a:spcPts val="1600"/>
              </a:lnSpc>
              <a:spcBef>
                <a:spcPts val="100"/>
              </a:spcBef>
            </a:pPr>
            <a:r>
              <a:rPr lang="ko-KR" sz="1250" dirty="0">
                <a:solidFill>
                  <a:srgbClr val="55617A"/>
                </a:solidFill>
              </a:rPr>
              <a:t>공통 인터페이스</a:t>
            </a:r>
          </a:p>
          <a:p>
            <a:pPr marL="0" indent="0">
              <a:spcBef>
                <a:spcPts val="900"/>
              </a:spcBef>
            </a:pPr>
            <a:r>
              <a:rPr lang="en-US" sz="1450" b="1" dirty="0">
                <a:solidFill>
                  <a:srgbClr val="1B2A4A"/>
                </a:solidFill>
              </a:rPr>
              <a:t>8 × Screen</a:t>
            </a:r>
          </a:p>
          <a:p>
            <a:pPr marL="0" indent="0">
              <a:lnSpc>
                <a:spcPts val="1600"/>
              </a:lnSpc>
              <a:spcBef>
                <a:spcPts val="100"/>
              </a:spcBef>
            </a:pPr>
            <a:r>
              <a:rPr lang="ko-KR" sz="1250" dirty="0">
                <a:solidFill>
                  <a:srgbClr val="55617A"/>
                </a:solidFill>
              </a:rPr>
              <a:t>구체 화면 서브클래스</a:t>
            </a:r>
          </a:p>
        </p:txBody>
      </p:sp>
      <p:sp>
        <p:nvSpPr>
          <p:cNvPr id="514" name="r"/>
          <p:cNvSpPr/>
          <p:nvPr/>
        </p:nvSpPr>
        <p:spPr>
          <a:xfrm>
            <a:off x="838200" y="5588000"/>
            <a:ext cx="10515600" cy="4572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5" name="t"/>
          <p:cNvSpPr txBox="1"/>
          <p:nvPr/>
        </p:nvSpPr>
        <p:spPr>
          <a:xfrm>
            <a:off x="838200" y="55880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 b="1" dirty="0">
                <a:solidFill>
                  <a:srgbClr val="2563B0"/>
                </a:solidFill>
              </a:rPr>
              <a:t>흐름  </a:t>
            </a:r>
            <a:r>
              <a:rPr lang="ko-KR" sz="1350" dirty="0" err="1">
                <a:solidFill>
                  <a:srgbClr val="2E3A4F"/>
                </a:solidFill>
              </a:rPr>
              <a:t>Controller가</a:t>
            </a:r>
            <a:r>
              <a:rPr lang="ko-KR" sz="1350" dirty="0">
                <a:solidFill>
                  <a:srgbClr val="2E3A4F"/>
                </a:solidFill>
              </a:rPr>
              <a:t> 입력을 받아 </a:t>
            </a:r>
            <a:r>
              <a:rPr lang="ko-KR" sz="1350" dirty="0" err="1">
                <a:solidFill>
                  <a:srgbClr val="2E3A4F"/>
                </a:solidFill>
              </a:rPr>
              <a:t>Model을</a:t>
            </a:r>
            <a:r>
              <a:rPr lang="ko-KR" sz="1350" dirty="0">
                <a:solidFill>
                  <a:srgbClr val="2E3A4F"/>
                </a:solidFill>
              </a:rPr>
              <a:t> 갱신하고 → </a:t>
            </a:r>
            <a:r>
              <a:rPr lang="ko-KR" sz="1350" dirty="0" err="1">
                <a:solidFill>
                  <a:srgbClr val="2E3A4F"/>
                </a:solidFill>
              </a:rPr>
              <a:t>View가</a:t>
            </a:r>
            <a:r>
              <a:rPr lang="ko-KR" sz="1350" dirty="0">
                <a:solidFill>
                  <a:srgbClr val="2E3A4F"/>
                </a:solidFill>
              </a:rPr>
              <a:t> 화면을 렌더링하는 단방향 구조</a:t>
            </a:r>
          </a:p>
        </p:txBody>
      </p:sp>
    </p:spTree>
    <p:extLst>
      <p:ext uri="{BB962C8B-B14F-4D97-AF65-F5344CB8AC3E}">
        <p14:creationId xmlns:p14="http://schemas.microsoft.com/office/powerpoint/2010/main" val="385777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8CA6B-C3EE-D3FA-588A-27F2A3E5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10515600" cy="711200"/>
          </a:xfrm>
        </p:spPr>
        <p:txBody>
          <a:bodyPr/>
          <a:lstStyle/>
          <a:p>
            <a:pPr algn="l"/>
            <a:r>
              <a:rPr lang="ko-KR" sz="3000" b="1">
                <a:solidFill>
                  <a:srgbClr val="1B2A4A"/>
                </a:solidFill>
              </a:rPr>
              <a:t>클래스 상속 구조</a:t>
            </a:r>
          </a:p>
        </p:txBody>
      </p:sp>
      <p:sp>
        <p:nvSpPr>
          <p:cNvPr id="600" name="b"/>
          <p:cNvSpPr/>
          <p:nvPr/>
        </p:nvSpPr>
        <p:spPr>
          <a:xfrm>
            <a:off x="3962400" y="1574800"/>
            <a:ext cx="4267200" cy="990600"/>
          </a:xfrm>
          <a:prstGeom prst="roundRect">
            <a:avLst>
              <a:gd name="adj" fmla="val 3000"/>
            </a:avLst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l"/>
          <p:cNvSpPr txBox="1"/>
          <p:nvPr/>
        </p:nvSpPr>
        <p:spPr>
          <a:xfrm>
            <a:off x="3962400" y="1651000"/>
            <a:ext cx="4267200" cy="838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100" i="1">
                <a:solidFill>
                  <a:srgbClr val="C9A227"/>
                </a:solidFill>
              </a:rPr>
              <a:t>«abstract»  </a:t>
            </a:r>
            <a:r>
              <a:rPr lang="en-US" sz="1800" b="1">
                <a:solidFill>
                  <a:srgbClr val="FFFFFF"/>
                </a:solidFill>
              </a:rPr>
              <a:t>Screen</a:t>
            </a:r>
          </a:p>
          <a:p>
            <a:pPr algn="ctr">
              <a:spcBef>
                <a:spcPts val="300"/>
              </a:spcBef>
            </a:pPr>
            <a:r>
              <a:rPr lang="en-US" sz="1100">
                <a:solidFill>
                  <a:srgbClr val="B9C6DA"/>
                </a:solidFill>
              </a:rPr>
              <a:t>render() = 0   ·   handleInput() = 0   ·   virtual ~Screen()</a:t>
            </a:r>
          </a:p>
        </p:txBody>
      </p:sp>
      <p:sp>
        <p:nvSpPr>
          <p:cNvPr id="602" name="l"/>
          <p:cNvSpPr txBox="1"/>
          <p:nvPr/>
        </p:nvSpPr>
        <p:spPr>
          <a:xfrm>
            <a:off x="6134100" y="2535767"/>
            <a:ext cx="1013759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200" i="1" dirty="0">
                <a:solidFill>
                  <a:srgbClr val="3E8E7E"/>
                </a:solidFill>
              </a:rPr>
              <a:t>▲ 공개 상속</a:t>
            </a:r>
          </a:p>
        </p:txBody>
      </p:sp>
      <p:sp>
        <p:nvSpPr>
          <p:cNvPr id="603" name="b"/>
          <p:cNvSpPr/>
          <p:nvPr/>
        </p:nvSpPr>
        <p:spPr>
          <a:xfrm>
            <a:off x="6083300" y="2565400"/>
            <a:ext cx="38100" cy="2540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b"/>
          <p:cNvSpPr/>
          <p:nvPr/>
        </p:nvSpPr>
        <p:spPr>
          <a:xfrm>
            <a:off x="1714500" y="2819400"/>
            <a:ext cx="8763000" cy="381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b"/>
          <p:cNvSpPr/>
          <p:nvPr/>
        </p:nvSpPr>
        <p:spPr>
          <a:xfrm>
            <a:off x="1701800" y="2819400"/>
            <a:ext cx="38100" cy="2286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b"/>
          <p:cNvSpPr/>
          <p:nvPr/>
        </p:nvSpPr>
        <p:spPr>
          <a:xfrm>
            <a:off x="3454400" y="2819400"/>
            <a:ext cx="38100" cy="2286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b"/>
          <p:cNvSpPr/>
          <p:nvPr/>
        </p:nvSpPr>
        <p:spPr>
          <a:xfrm>
            <a:off x="5207000" y="2819400"/>
            <a:ext cx="38100" cy="2286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b"/>
          <p:cNvSpPr/>
          <p:nvPr/>
        </p:nvSpPr>
        <p:spPr>
          <a:xfrm>
            <a:off x="6959600" y="2819400"/>
            <a:ext cx="38100" cy="2286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b"/>
          <p:cNvSpPr/>
          <p:nvPr/>
        </p:nvSpPr>
        <p:spPr>
          <a:xfrm>
            <a:off x="8712200" y="2819400"/>
            <a:ext cx="38100" cy="2286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b"/>
          <p:cNvSpPr/>
          <p:nvPr/>
        </p:nvSpPr>
        <p:spPr>
          <a:xfrm>
            <a:off x="10464800" y="2819400"/>
            <a:ext cx="38100" cy="2286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b"/>
          <p:cNvSpPr/>
          <p:nvPr/>
        </p:nvSpPr>
        <p:spPr>
          <a:xfrm>
            <a:off x="927100" y="3048000"/>
            <a:ext cx="1574800" cy="635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2" name="l"/>
          <p:cNvSpPr txBox="1"/>
          <p:nvPr/>
        </p:nvSpPr>
        <p:spPr>
          <a:xfrm>
            <a:off x="927100" y="3048000"/>
            <a:ext cx="1574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50" b="1">
                <a:solidFill>
                  <a:srgbClr val="1B2A4A"/>
                </a:solidFill>
              </a:rPr>
              <a:t>MainScreen</a:t>
            </a:r>
          </a:p>
        </p:txBody>
      </p:sp>
      <p:sp>
        <p:nvSpPr>
          <p:cNvPr id="613" name="b"/>
          <p:cNvSpPr/>
          <p:nvPr/>
        </p:nvSpPr>
        <p:spPr>
          <a:xfrm>
            <a:off x="2679700" y="3048000"/>
            <a:ext cx="1574800" cy="635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4" name="l"/>
          <p:cNvSpPr txBox="1"/>
          <p:nvPr/>
        </p:nvSpPr>
        <p:spPr>
          <a:xfrm>
            <a:off x="2679700" y="3048000"/>
            <a:ext cx="1574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50" b="1">
                <a:solidFill>
                  <a:srgbClr val="1B2A4A"/>
                </a:solidFill>
              </a:rPr>
              <a:t>RaisingScreen</a:t>
            </a:r>
          </a:p>
        </p:txBody>
      </p:sp>
      <p:sp>
        <p:nvSpPr>
          <p:cNvPr id="615" name="b"/>
          <p:cNvSpPr/>
          <p:nvPr/>
        </p:nvSpPr>
        <p:spPr>
          <a:xfrm>
            <a:off x="4432300" y="3048000"/>
            <a:ext cx="1574800" cy="635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6" name="l"/>
          <p:cNvSpPr txBox="1"/>
          <p:nvPr/>
        </p:nvSpPr>
        <p:spPr>
          <a:xfrm>
            <a:off x="4432300" y="3048000"/>
            <a:ext cx="1574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50" b="1">
                <a:solidFill>
                  <a:srgbClr val="1B2A4A"/>
                </a:solidFill>
              </a:rPr>
              <a:t>BattleScreen</a:t>
            </a:r>
          </a:p>
        </p:txBody>
      </p:sp>
      <p:sp>
        <p:nvSpPr>
          <p:cNvPr id="617" name="b"/>
          <p:cNvSpPr/>
          <p:nvPr/>
        </p:nvSpPr>
        <p:spPr>
          <a:xfrm>
            <a:off x="6184900" y="3048000"/>
            <a:ext cx="1574800" cy="635000"/>
          </a:xfrm>
          <a:prstGeom prst="roundRect">
            <a:avLst>
              <a:gd name="adj" fmla="val 2500"/>
            </a:avLst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8" name="l"/>
          <p:cNvSpPr txBox="1"/>
          <p:nvPr/>
        </p:nvSpPr>
        <p:spPr>
          <a:xfrm>
            <a:off x="6184900" y="3048000"/>
            <a:ext cx="1574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50" b="1">
                <a:solidFill>
                  <a:srgbClr val="FFFFFF"/>
                </a:solidFill>
              </a:rPr>
              <a:t>TrainingScreen</a:t>
            </a:r>
          </a:p>
        </p:txBody>
      </p:sp>
      <p:sp>
        <p:nvSpPr>
          <p:cNvPr id="619" name="b"/>
          <p:cNvSpPr/>
          <p:nvPr/>
        </p:nvSpPr>
        <p:spPr>
          <a:xfrm>
            <a:off x="7937500" y="3048000"/>
            <a:ext cx="1574800" cy="635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0" name="l"/>
          <p:cNvSpPr txBox="1"/>
          <p:nvPr/>
        </p:nvSpPr>
        <p:spPr>
          <a:xfrm>
            <a:off x="7937500" y="3048000"/>
            <a:ext cx="1574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50" b="1">
                <a:solidFill>
                  <a:srgbClr val="1B2A4A"/>
                </a:solidFill>
              </a:rPr>
              <a:t>EquipmentScreen</a:t>
            </a:r>
          </a:p>
        </p:txBody>
      </p:sp>
      <p:sp>
        <p:nvSpPr>
          <p:cNvPr id="621" name="b"/>
          <p:cNvSpPr/>
          <p:nvPr/>
        </p:nvSpPr>
        <p:spPr>
          <a:xfrm>
            <a:off x="9690100" y="3048000"/>
            <a:ext cx="1574800" cy="635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2" name="l"/>
          <p:cNvSpPr txBox="1"/>
          <p:nvPr/>
        </p:nvSpPr>
        <p:spPr>
          <a:xfrm>
            <a:off x="9690100" y="3048000"/>
            <a:ext cx="1574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50" b="1">
                <a:solidFill>
                  <a:srgbClr val="1B2A4A"/>
                </a:solidFill>
              </a:rPr>
              <a:t>EndingScreen</a:t>
            </a:r>
          </a:p>
        </p:txBody>
      </p:sp>
      <p:sp>
        <p:nvSpPr>
          <p:cNvPr id="623" name="b"/>
          <p:cNvSpPr/>
          <p:nvPr/>
        </p:nvSpPr>
        <p:spPr>
          <a:xfrm>
            <a:off x="6959600" y="3683000"/>
            <a:ext cx="38100" cy="2794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4" name="b"/>
          <p:cNvSpPr/>
          <p:nvPr/>
        </p:nvSpPr>
        <p:spPr>
          <a:xfrm>
            <a:off x="4864100" y="3962400"/>
            <a:ext cx="4216400" cy="381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5" name="b"/>
          <p:cNvSpPr/>
          <p:nvPr/>
        </p:nvSpPr>
        <p:spPr>
          <a:xfrm>
            <a:off x="4851399" y="3962400"/>
            <a:ext cx="45719" cy="2540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6" name="b"/>
          <p:cNvSpPr/>
          <p:nvPr/>
        </p:nvSpPr>
        <p:spPr>
          <a:xfrm>
            <a:off x="6959600" y="3962400"/>
            <a:ext cx="38100" cy="2286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7" name="b"/>
          <p:cNvSpPr/>
          <p:nvPr/>
        </p:nvSpPr>
        <p:spPr>
          <a:xfrm>
            <a:off x="9067800" y="3962400"/>
            <a:ext cx="38100" cy="2286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8" name="b"/>
          <p:cNvSpPr/>
          <p:nvPr/>
        </p:nvSpPr>
        <p:spPr>
          <a:xfrm>
            <a:off x="3759200" y="4191000"/>
            <a:ext cx="6451600" cy="14986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0" name="b"/>
          <p:cNvSpPr/>
          <p:nvPr/>
        </p:nvSpPr>
        <p:spPr>
          <a:xfrm>
            <a:off x="3873500" y="4648200"/>
            <a:ext cx="1981200" cy="609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1" name="l"/>
          <p:cNvSpPr txBox="1"/>
          <p:nvPr/>
        </p:nvSpPr>
        <p:spPr>
          <a:xfrm>
            <a:off x="3873500" y="4648200"/>
            <a:ext cx="19812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1B2A4A"/>
                </a:solidFill>
              </a:rPr>
              <a:t>PunchingBagScreen</a:t>
            </a:r>
          </a:p>
        </p:txBody>
      </p:sp>
      <p:sp>
        <p:nvSpPr>
          <p:cNvPr id="632" name="b"/>
          <p:cNvSpPr/>
          <p:nvPr/>
        </p:nvSpPr>
        <p:spPr>
          <a:xfrm>
            <a:off x="5981700" y="4648200"/>
            <a:ext cx="1981200" cy="609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3" name="l"/>
          <p:cNvSpPr txBox="1"/>
          <p:nvPr/>
        </p:nvSpPr>
        <p:spPr>
          <a:xfrm>
            <a:off x="5981700" y="4648200"/>
            <a:ext cx="19812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1B2A4A"/>
                </a:solidFill>
              </a:rPr>
              <a:t>RunningScreen</a:t>
            </a:r>
          </a:p>
        </p:txBody>
      </p:sp>
      <p:sp>
        <p:nvSpPr>
          <p:cNvPr id="634" name="b"/>
          <p:cNvSpPr/>
          <p:nvPr/>
        </p:nvSpPr>
        <p:spPr>
          <a:xfrm>
            <a:off x="8089900" y="4648200"/>
            <a:ext cx="1981200" cy="609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56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5" name="l"/>
          <p:cNvSpPr txBox="1"/>
          <p:nvPr/>
        </p:nvSpPr>
        <p:spPr>
          <a:xfrm>
            <a:off x="8089900" y="4648200"/>
            <a:ext cx="19812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b="1">
                <a:solidFill>
                  <a:srgbClr val="1B2A4A"/>
                </a:solidFill>
              </a:rPr>
              <a:t>ReactionScreen</a:t>
            </a:r>
          </a:p>
        </p:txBody>
      </p:sp>
      <p:sp>
        <p:nvSpPr>
          <p:cNvPr id="636" name="b"/>
          <p:cNvSpPr/>
          <p:nvPr/>
        </p:nvSpPr>
        <p:spPr>
          <a:xfrm>
            <a:off x="6959600" y="3683000"/>
            <a:ext cx="38100" cy="2794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b"/>
          <p:cNvSpPr/>
          <p:nvPr/>
        </p:nvSpPr>
        <p:spPr>
          <a:xfrm>
            <a:off x="4864100" y="4089400"/>
            <a:ext cx="4216400" cy="381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b"/>
          <p:cNvSpPr/>
          <p:nvPr/>
        </p:nvSpPr>
        <p:spPr>
          <a:xfrm>
            <a:off x="4851399" y="4089400"/>
            <a:ext cx="45719" cy="508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l"/>
          <p:cNvSpPr txBox="1"/>
          <p:nvPr/>
        </p:nvSpPr>
        <p:spPr>
          <a:xfrm>
            <a:off x="838200" y="5943600"/>
            <a:ext cx="105156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00" dirty="0">
                <a:solidFill>
                  <a:srgbClr val="55617A"/>
                </a:solidFill>
              </a:rPr>
              <a:t>추상 클래스 </a:t>
            </a:r>
            <a:r>
              <a:rPr lang="ko-KR" sz="1300" dirty="0" err="1">
                <a:solidFill>
                  <a:srgbClr val="55617A"/>
                </a:solidFill>
              </a:rPr>
              <a:t>Screen을</a:t>
            </a:r>
            <a:r>
              <a:rPr lang="ko-KR" sz="1300" dirty="0">
                <a:solidFill>
                  <a:srgbClr val="55617A"/>
                </a:solidFill>
              </a:rPr>
              <a:t> 모든 화면이 공개 상속 — 코드 중복 없이 다형성으로 화면 전환을 운영한다.</a:t>
            </a:r>
          </a:p>
        </p:txBody>
      </p:sp>
      <p:sp>
        <p:nvSpPr>
          <p:cNvPr id="629" name="l"/>
          <p:cNvSpPr txBox="1"/>
          <p:nvPr/>
        </p:nvSpPr>
        <p:spPr>
          <a:xfrm>
            <a:off x="3759200" y="4267200"/>
            <a:ext cx="64516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200" b="1" dirty="0" err="1">
                <a:solidFill>
                  <a:srgbClr val="2563B0"/>
                </a:solidFill>
              </a:rPr>
              <a:t>TrainingScreen</a:t>
            </a:r>
            <a:r>
              <a:rPr lang="ko-KR" sz="1200" b="1" dirty="0">
                <a:solidFill>
                  <a:srgbClr val="2563B0"/>
                </a:solidFill>
              </a:rPr>
              <a:t> 하위 · 2단계 상속 계층</a:t>
            </a:r>
          </a:p>
        </p:txBody>
      </p:sp>
    </p:spTree>
    <p:extLst>
      <p:ext uri="{BB962C8B-B14F-4D97-AF65-F5344CB8AC3E}">
        <p14:creationId xmlns:p14="http://schemas.microsoft.com/office/powerpoint/2010/main" val="3639435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25C65-C95B-04AF-69B0-72538101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10515600" cy="711200"/>
          </a:xfrm>
        </p:spPr>
        <p:txBody>
          <a:bodyPr/>
          <a:lstStyle/>
          <a:p>
            <a:pPr algn="l"/>
            <a:r>
              <a:rPr lang="ko-KR" sz="3000" b="1">
                <a:solidFill>
                  <a:srgbClr val="1B2A4A"/>
                </a:solidFill>
              </a:rPr>
              <a:t>UX 흐름 · 게임 플로우</a:t>
            </a:r>
          </a:p>
        </p:txBody>
      </p:sp>
      <p:sp>
        <p:nvSpPr>
          <p:cNvPr id="601" name="r"/>
          <p:cNvSpPr/>
          <p:nvPr/>
        </p:nvSpPr>
        <p:spPr>
          <a:xfrm>
            <a:off x="2044700" y="2413000"/>
            <a:ext cx="7848600" cy="254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r"/>
          <p:cNvSpPr/>
          <p:nvPr/>
        </p:nvSpPr>
        <p:spPr>
          <a:xfrm>
            <a:off x="6083300" y="2209800"/>
            <a:ext cx="25400" cy="2032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r"/>
          <p:cNvSpPr/>
          <p:nvPr/>
        </p:nvSpPr>
        <p:spPr>
          <a:xfrm>
            <a:off x="2032000" y="2413000"/>
            <a:ext cx="25400" cy="1016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r"/>
          <p:cNvSpPr/>
          <p:nvPr/>
        </p:nvSpPr>
        <p:spPr>
          <a:xfrm>
            <a:off x="4648200" y="2413000"/>
            <a:ext cx="25400" cy="1016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r"/>
          <p:cNvSpPr/>
          <p:nvPr/>
        </p:nvSpPr>
        <p:spPr>
          <a:xfrm>
            <a:off x="7264400" y="2413000"/>
            <a:ext cx="25400" cy="1016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r"/>
          <p:cNvSpPr/>
          <p:nvPr/>
        </p:nvSpPr>
        <p:spPr>
          <a:xfrm>
            <a:off x="9880600" y="2413000"/>
            <a:ext cx="25400" cy="101600"/>
          </a:xfrm>
          <a:prstGeom prst="rect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r"/>
          <p:cNvSpPr/>
          <p:nvPr/>
        </p:nvSpPr>
        <p:spPr>
          <a:xfrm>
            <a:off x="1905000" y="1651000"/>
            <a:ext cx="1498600" cy="5080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 w="12700"/>
        </p:spPr>
        <p:txBody>
          <a:bodyPr/>
          <a:lstStyle/>
          <a:p>
            <a:endParaRPr/>
          </a:p>
        </p:txBody>
      </p:sp>
      <p:sp>
        <p:nvSpPr>
          <p:cNvPr id="608" name="t"/>
          <p:cNvSpPr txBox="1"/>
          <p:nvPr/>
        </p:nvSpPr>
        <p:spPr>
          <a:xfrm>
            <a:off x="1905000" y="1651000"/>
            <a:ext cx="14986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400" b="1">
                <a:solidFill>
                  <a:srgbClr val="1B2A4A"/>
                </a:solidFill>
              </a:rPr>
              <a:t>게임 시작</a:t>
            </a:r>
          </a:p>
        </p:txBody>
      </p:sp>
      <p:sp>
        <p:nvSpPr>
          <p:cNvPr id="609" name="arrow"/>
          <p:cNvSpPr/>
          <p:nvPr/>
        </p:nvSpPr>
        <p:spPr>
          <a:xfrm>
            <a:off x="3505200" y="1816100"/>
            <a:ext cx="736600" cy="177800"/>
          </a:xfrm>
          <a:prstGeom prst="rightArrow">
            <a:avLst/>
          </a:prstGeom>
          <a:solidFill>
            <a:srgbClr val="9B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r"/>
          <p:cNvSpPr/>
          <p:nvPr/>
        </p:nvSpPr>
        <p:spPr>
          <a:xfrm>
            <a:off x="4318000" y="1600200"/>
            <a:ext cx="3556000" cy="609600"/>
          </a:xfrm>
          <a:prstGeom prst="roundRect">
            <a:avLst>
              <a:gd name="adj" fmla="val 9000"/>
            </a:avLst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t"/>
          <p:cNvSpPr txBox="1"/>
          <p:nvPr/>
        </p:nvSpPr>
        <p:spPr>
          <a:xfrm>
            <a:off x="4318000" y="1600200"/>
            <a:ext cx="3556000" cy="609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600" b="1">
                <a:solidFill>
                  <a:srgbClr val="FFFFFF"/>
                </a:solidFill>
              </a:rPr>
              <a:t>MainScreen · 메인 허브</a:t>
            </a:r>
          </a:p>
        </p:txBody>
      </p:sp>
      <p:sp>
        <p:nvSpPr>
          <p:cNvPr id="612" name="r"/>
          <p:cNvSpPr/>
          <p:nvPr/>
        </p:nvSpPr>
        <p:spPr>
          <a:xfrm>
            <a:off x="838200" y="2514600"/>
            <a:ext cx="2413000" cy="11938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9525"/>
        </p:spPr>
        <p:txBody>
          <a:bodyPr/>
          <a:lstStyle/>
          <a:p>
            <a:endParaRPr/>
          </a:p>
        </p:txBody>
      </p:sp>
      <p:sp>
        <p:nvSpPr>
          <p:cNvPr id="613" name="r"/>
          <p:cNvSpPr/>
          <p:nvPr/>
        </p:nvSpPr>
        <p:spPr>
          <a:xfrm>
            <a:off x="838200" y="2514600"/>
            <a:ext cx="2413000" cy="508000"/>
          </a:xfrm>
          <a:prstGeom prst="roundRect">
            <a:avLst>
              <a:gd name="adj" fmla="val 7000"/>
            </a:avLst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r"/>
          <p:cNvSpPr/>
          <p:nvPr/>
        </p:nvSpPr>
        <p:spPr>
          <a:xfrm>
            <a:off x="838200" y="2921000"/>
            <a:ext cx="2413000" cy="1270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t"/>
          <p:cNvSpPr txBox="1"/>
          <p:nvPr/>
        </p:nvSpPr>
        <p:spPr>
          <a:xfrm>
            <a:off x="990600" y="2616200"/>
            <a:ext cx="21082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600" b="1">
                <a:solidFill>
                  <a:srgbClr val="FFFFFF"/>
                </a:solidFill>
              </a:rPr>
              <a:t>육성  </a:t>
            </a:r>
            <a:r>
              <a:rPr lang="en-US" sz="1150" b="1">
                <a:solidFill>
                  <a:srgbClr val="FFFFFF"/>
                </a:solidFill>
              </a:rPr>
              <a:t>RaisingScreen</a:t>
            </a:r>
          </a:p>
        </p:txBody>
      </p:sp>
      <p:sp>
        <p:nvSpPr>
          <p:cNvPr id="616" name="t"/>
          <p:cNvSpPr txBox="1"/>
          <p:nvPr/>
        </p:nvSpPr>
        <p:spPr>
          <a:xfrm>
            <a:off x="1016000" y="3200400"/>
            <a:ext cx="20574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00"/>
              </a:lnSpc>
            </a:pPr>
            <a:r>
              <a:rPr lang="ko-KR" sz="1200" b="1" dirty="0" err="1">
                <a:solidFill>
                  <a:srgbClr val="2E3A4F"/>
                </a:solidFill>
              </a:rPr>
              <a:t>밥주기</a:t>
            </a:r>
            <a:r>
              <a:rPr lang="ko-KR" sz="1200" b="1" dirty="0">
                <a:solidFill>
                  <a:srgbClr val="2E3A4F"/>
                </a:solidFill>
              </a:rPr>
              <a:t> · 목욕 · 놀아주기 · 치료</a:t>
            </a:r>
          </a:p>
        </p:txBody>
      </p:sp>
      <p:sp>
        <p:nvSpPr>
          <p:cNvPr id="617" name="r"/>
          <p:cNvSpPr/>
          <p:nvPr/>
        </p:nvSpPr>
        <p:spPr>
          <a:xfrm>
            <a:off x="3454400" y="2514600"/>
            <a:ext cx="2413000" cy="11938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9525"/>
        </p:spPr>
        <p:txBody>
          <a:bodyPr/>
          <a:lstStyle/>
          <a:p>
            <a:endParaRPr/>
          </a:p>
        </p:txBody>
      </p:sp>
      <p:sp>
        <p:nvSpPr>
          <p:cNvPr id="618" name="r"/>
          <p:cNvSpPr/>
          <p:nvPr/>
        </p:nvSpPr>
        <p:spPr>
          <a:xfrm>
            <a:off x="3454400" y="2514600"/>
            <a:ext cx="2413000" cy="508000"/>
          </a:xfrm>
          <a:prstGeom prst="roundRect">
            <a:avLst>
              <a:gd name="adj" fmla="val 7000"/>
            </a:avLst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9" name="r"/>
          <p:cNvSpPr/>
          <p:nvPr/>
        </p:nvSpPr>
        <p:spPr>
          <a:xfrm>
            <a:off x="3454400" y="2921000"/>
            <a:ext cx="2413000" cy="127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0" name="t"/>
          <p:cNvSpPr txBox="1"/>
          <p:nvPr/>
        </p:nvSpPr>
        <p:spPr>
          <a:xfrm>
            <a:off x="3606800" y="2616200"/>
            <a:ext cx="21082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600" b="1">
                <a:solidFill>
                  <a:srgbClr val="FFFFFF"/>
                </a:solidFill>
              </a:rPr>
              <a:t>전투  </a:t>
            </a:r>
            <a:r>
              <a:rPr lang="en-US" sz="1150" b="1">
                <a:solidFill>
                  <a:srgbClr val="FFFFFF"/>
                </a:solidFill>
              </a:rPr>
              <a:t>BattleScreen</a:t>
            </a:r>
          </a:p>
        </p:txBody>
      </p:sp>
      <p:sp>
        <p:nvSpPr>
          <p:cNvPr id="621" name="t"/>
          <p:cNvSpPr txBox="1"/>
          <p:nvPr/>
        </p:nvSpPr>
        <p:spPr>
          <a:xfrm>
            <a:off x="3632200" y="3200400"/>
            <a:ext cx="20574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00"/>
              </a:lnSpc>
            </a:pPr>
            <a:r>
              <a:rPr lang="ko-KR" sz="1200" b="1" dirty="0">
                <a:solidFill>
                  <a:srgbClr val="2E3A4F"/>
                </a:solidFill>
              </a:rPr>
              <a:t>스테이지 선택 → 가위바위보</a:t>
            </a:r>
          </a:p>
        </p:txBody>
      </p:sp>
      <p:sp>
        <p:nvSpPr>
          <p:cNvPr id="622" name="r"/>
          <p:cNvSpPr/>
          <p:nvPr/>
        </p:nvSpPr>
        <p:spPr>
          <a:xfrm>
            <a:off x="6070600" y="2514600"/>
            <a:ext cx="2413000" cy="11938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9525"/>
        </p:spPr>
        <p:txBody>
          <a:bodyPr/>
          <a:lstStyle/>
          <a:p>
            <a:endParaRPr/>
          </a:p>
        </p:txBody>
      </p:sp>
      <p:sp>
        <p:nvSpPr>
          <p:cNvPr id="623" name="r"/>
          <p:cNvSpPr/>
          <p:nvPr/>
        </p:nvSpPr>
        <p:spPr>
          <a:xfrm>
            <a:off x="6070600" y="2514600"/>
            <a:ext cx="2413000" cy="508000"/>
          </a:xfrm>
          <a:prstGeom prst="roundRect">
            <a:avLst>
              <a:gd name="adj" fmla="val 7000"/>
            </a:avLst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4" name="r"/>
          <p:cNvSpPr/>
          <p:nvPr/>
        </p:nvSpPr>
        <p:spPr>
          <a:xfrm>
            <a:off x="6070600" y="2921000"/>
            <a:ext cx="2413000" cy="127000"/>
          </a:xfrm>
          <a:prstGeom prst="rect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5" name="t"/>
          <p:cNvSpPr txBox="1"/>
          <p:nvPr/>
        </p:nvSpPr>
        <p:spPr>
          <a:xfrm>
            <a:off x="6223000" y="2616200"/>
            <a:ext cx="21082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600" b="1">
                <a:solidFill>
                  <a:srgbClr val="FFFFFF"/>
                </a:solidFill>
              </a:rPr>
              <a:t>장비  </a:t>
            </a:r>
            <a:r>
              <a:rPr lang="en-US" sz="1150" b="1">
                <a:solidFill>
                  <a:srgbClr val="FFFFFF"/>
                </a:solidFill>
              </a:rPr>
              <a:t>EquipmentScreen</a:t>
            </a:r>
          </a:p>
        </p:txBody>
      </p:sp>
      <p:sp>
        <p:nvSpPr>
          <p:cNvPr id="626" name="t"/>
          <p:cNvSpPr txBox="1"/>
          <p:nvPr/>
        </p:nvSpPr>
        <p:spPr>
          <a:xfrm>
            <a:off x="6248400" y="3200400"/>
            <a:ext cx="20574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00"/>
              </a:lnSpc>
            </a:pPr>
            <a:r>
              <a:rPr lang="ko-KR" sz="1200" b="1" dirty="0" err="1">
                <a:solidFill>
                  <a:srgbClr val="2E3A4F"/>
                </a:solidFill>
              </a:rPr>
              <a:t>검·갑옷</a:t>
            </a:r>
            <a:r>
              <a:rPr lang="ko-KR" sz="1200" b="1" dirty="0">
                <a:solidFill>
                  <a:srgbClr val="2E3A4F"/>
                </a:solidFill>
              </a:rPr>
              <a:t> 강화 · 아이템 상점</a:t>
            </a:r>
          </a:p>
        </p:txBody>
      </p:sp>
      <p:sp>
        <p:nvSpPr>
          <p:cNvPr id="627" name="r"/>
          <p:cNvSpPr/>
          <p:nvPr/>
        </p:nvSpPr>
        <p:spPr>
          <a:xfrm>
            <a:off x="8686800" y="2514600"/>
            <a:ext cx="2413000" cy="11938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9525"/>
        </p:spPr>
        <p:txBody>
          <a:bodyPr/>
          <a:lstStyle/>
          <a:p>
            <a:endParaRPr/>
          </a:p>
        </p:txBody>
      </p:sp>
      <p:sp>
        <p:nvSpPr>
          <p:cNvPr id="628" name="r"/>
          <p:cNvSpPr/>
          <p:nvPr/>
        </p:nvSpPr>
        <p:spPr>
          <a:xfrm>
            <a:off x="8686800" y="2514600"/>
            <a:ext cx="2413000" cy="508000"/>
          </a:xfrm>
          <a:prstGeom prst="roundRect">
            <a:avLst>
              <a:gd name="adj" fmla="val 7000"/>
            </a:avLst>
          </a:prstGeom>
          <a:solidFill>
            <a:srgbClr val="5B8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9" name="r"/>
          <p:cNvSpPr/>
          <p:nvPr/>
        </p:nvSpPr>
        <p:spPr>
          <a:xfrm>
            <a:off x="8686800" y="2921000"/>
            <a:ext cx="2413000" cy="127000"/>
          </a:xfrm>
          <a:prstGeom prst="rect">
            <a:avLst/>
          </a:prstGeom>
          <a:solidFill>
            <a:srgbClr val="5B8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0" name="t"/>
          <p:cNvSpPr txBox="1"/>
          <p:nvPr/>
        </p:nvSpPr>
        <p:spPr>
          <a:xfrm>
            <a:off x="8839200" y="2616200"/>
            <a:ext cx="21082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600" b="1">
                <a:solidFill>
                  <a:srgbClr val="FFFFFF"/>
                </a:solidFill>
              </a:rPr>
              <a:t>훈련  </a:t>
            </a:r>
            <a:r>
              <a:rPr lang="en-US" sz="1150" b="1">
                <a:solidFill>
                  <a:srgbClr val="FFFFFF"/>
                </a:solidFill>
              </a:rPr>
              <a:t>TrainingScreen</a:t>
            </a:r>
          </a:p>
        </p:txBody>
      </p:sp>
      <p:sp>
        <p:nvSpPr>
          <p:cNvPr id="631" name="t"/>
          <p:cNvSpPr txBox="1"/>
          <p:nvPr/>
        </p:nvSpPr>
        <p:spPr>
          <a:xfrm>
            <a:off x="8864600" y="3200400"/>
            <a:ext cx="20574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00"/>
              </a:lnSpc>
            </a:pPr>
            <a:r>
              <a:rPr lang="ko-KR" sz="1200" b="1" dirty="0">
                <a:solidFill>
                  <a:srgbClr val="2E3A4F"/>
                </a:solidFill>
              </a:rPr>
              <a:t>샌드백 · 달리기 · 반응속도</a:t>
            </a:r>
          </a:p>
        </p:txBody>
      </p:sp>
      <p:sp>
        <p:nvSpPr>
          <p:cNvPr id="632" name="r"/>
          <p:cNvSpPr/>
          <p:nvPr/>
        </p:nvSpPr>
        <p:spPr>
          <a:xfrm>
            <a:off x="838200" y="4013205"/>
            <a:ext cx="10515600" cy="127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t"/>
          <p:cNvSpPr txBox="1"/>
          <p:nvPr/>
        </p:nvSpPr>
        <p:spPr>
          <a:xfrm>
            <a:off x="838200" y="4114805"/>
            <a:ext cx="63500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600" b="1">
                <a:solidFill>
                  <a:srgbClr val="1B2A4A"/>
                </a:solidFill>
              </a:rPr>
              <a:t>엔딩 조건 </a:t>
            </a:r>
            <a:r>
              <a:rPr lang="ko-KR" sz="1300">
                <a:solidFill>
                  <a:srgbClr val="8C97A8"/>
                </a:solidFill>
              </a:rPr>
              <a:t>— 매 프레임 판정</a:t>
            </a:r>
          </a:p>
        </p:txBody>
      </p:sp>
      <p:sp>
        <p:nvSpPr>
          <p:cNvPr id="634" name="r"/>
          <p:cNvSpPr/>
          <p:nvPr/>
        </p:nvSpPr>
        <p:spPr>
          <a:xfrm>
            <a:off x="838200" y="4495805"/>
            <a:ext cx="1981200" cy="7620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 w="9525"/>
        </p:spPr>
        <p:txBody>
          <a:bodyPr/>
          <a:lstStyle/>
          <a:p>
            <a:endParaRPr/>
          </a:p>
        </p:txBody>
      </p:sp>
      <p:sp>
        <p:nvSpPr>
          <p:cNvPr id="635" name="r"/>
          <p:cNvSpPr/>
          <p:nvPr/>
        </p:nvSpPr>
        <p:spPr>
          <a:xfrm>
            <a:off x="838200" y="4495805"/>
            <a:ext cx="76200" cy="762000"/>
          </a:xfrm>
          <a:prstGeom prst="rect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t"/>
          <p:cNvSpPr txBox="1"/>
          <p:nvPr/>
        </p:nvSpPr>
        <p:spPr>
          <a:xfrm>
            <a:off x="1066800" y="4597405"/>
            <a:ext cx="16256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500" b="1">
                <a:solidFill>
                  <a:srgbClr val="1B2A4A"/>
                </a:solidFill>
              </a:rPr>
              <a:t>용사 엔딩</a:t>
            </a:r>
          </a:p>
          <a:p>
            <a:pPr algn="l">
              <a:spcBef>
                <a:spcPts val="200"/>
              </a:spcBef>
            </a:pPr>
            <a:r>
              <a:rPr lang="ko-KR" sz="1250">
                <a:solidFill>
                  <a:srgbClr val="6B7686"/>
                </a:solidFill>
              </a:rPr>
              <a:t>5스테이지 클리어</a:t>
            </a:r>
          </a:p>
        </p:txBody>
      </p:sp>
      <p:sp>
        <p:nvSpPr>
          <p:cNvPr id="637" name="r"/>
          <p:cNvSpPr/>
          <p:nvPr/>
        </p:nvSpPr>
        <p:spPr>
          <a:xfrm>
            <a:off x="2971800" y="4495805"/>
            <a:ext cx="1981200" cy="7620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 w="9525"/>
        </p:spPr>
        <p:txBody>
          <a:bodyPr/>
          <a:lstStyle/>
          <a:p>
            <a:endParaRPr/>
          </a:p>
        </p:txBody>
      </p:sp>
      <p:sp>
        <p:nvSpPr>
          <p:cNvPr id="638" name="r"/>
          <p:cNvSpPr/>
          <p:nvPr/>
        </p:nvSpPr>
        <p:spPr>
          <a:xfrm>
            <a:off x="2971800" y="4495805"/>
            <a:ext cx="76200" cy="7620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t"/>
          <p:cNvSpPr txBox="1"/>
          <p:nvPr/>
        </p:nvSpPr>
        <p:spPr>
          <a:xfrm>
            <a:off x="3200400" y="4597405"/>
            <a:ext cx="16256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500" b="1">
                <a:solidFill>
                  <a:srgbClr val="1B2A4A"/>
                </a:solidFill>
              </a:rPr>
              <a:t>굶주림</a:t>
            </a:r>
          </a:p>
          <a:p>
            <a:pPr algn="l">
              <a:spcBef>
                <a:spcPts val="200"/>
              </a:spcBef>
            </a:pPr>
            <a:r>
              <a:rPr lang="ko-KR" sz="1250">
                <a:solidFill>
                  <a:srgbClr val="6B7686"/>
                </a:solidFill>
              </a:rPr>
              <a:t>배고픔 = 0</a:t>
            </a:r>
          </a:p>
        </p:txBody>
      </p:sp>
      <p:sp>
        <p:nvSpPr>
          <p:cNvPr id="640" name="r"/>
          <p:cNvSpPr/>
          <p:nvPr/>
        </p:nvSpPr>
        <p:spPr>
          <a:xfrm>
            <a:off x="5105400" y="4495805"/>
            <a:ext cx="1981200" cy="7620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 w="9525"/>
        </p:spPr>
        <p:txBody>
          <a:bodyPr/>
          <a:lstStyle/>
          <a:p>
            <a:endParaRPr/>
          </a:p>
        </p:txBody>
      </p:sp>
      <p:sp>
        <p:nvSpPr>
          <p:cNvPr id="641" name="r"/>
          <p:cNvSpPr/>
          <p:nvPr/>
        </p:nvSpPr>
        <p:spPr>
          <a:xfrm>
            <a:off x="5105400" y="4495805"/>
            <a:ext cx="76200" cy="7620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t"/>
          <p:cNvSpPr txBox="1"/>
          <p:nvPr/>
        </p:nvSpPr>
        <p:spPr>
          <a:xfrm>
            <a:off x="5334000" y="4597405"/>
            <a:ext cx="16256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500" b="1">
                <a:solidFill>
                  <a:srgbClr val="1B2A4A"/>
                </a:solidFill>
              </a:rPr>
              <a:t>도망</a:t>
            </a:r>
          </a:p>
          <a:p>
            <a:pPr algn="l">
              <a:spcBef>
                <a:spcPts val="200"/>
              </a:spcBef>
            </a:pPr>
            <a:r>
              <a:rPr lang="ko-KR" sz="1250">
                <a:solidFill>
                  <a:srgbClr val="6B7686"/>
                </a:solidFill>
              </a:rPr>
              <a:t>행복 = 0</a:t>
            </a:r>
          </a:p>
        </p:txBody>
      </p:sp>
      <p:sp>
        <p:nvSpPr>
          <p:cNvPr id="643" name="r"/>
          <p:cNvSpPr/>
          <p:nvPr/>
        </p:nvSpPr>
        <p:spPr>
          <a:xfrm>
            <a:off x="7239000" y="4495805"/>
            <a:ext cx="1981200" cy="7620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 w="9525"/>
        </p:spPr>
        <p:txBody>
          <a:bodyPr/>
          <a:lstStyle/>
          <a:p>
            <a:endParaRPr/>
          </a:p>
        </p:txBody>
      </p:sp>
      <p:sp>
        <p:nvSpPr>
          <p:cNvPr id="644" name="r"/>
          <p:cNvSpPr/>
          <p:nvPr/>
        </p:nvSpPr>
        <p:spPr>
          <a:xfrm>
            <a:off x="7239000" y="4495805"/>
            <a:ext cx="76200" cy="7620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t"/>
          <p:cNvSpPr txBox="1"/>
          <p:nvPr/>
        </p:nvSpPr>
        <p:spPr>
          <a:xfrm>
            <a:off x="7467600" y="4597405"/>
            <a:ext cx="16256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500" b="1">
                <a:solidFill>
                  <a:srgbClr val="1B2A4A"/>
                </a:solidFill>
              </a:rPr>
              <a:t>쓰레기</a:t>
            </a:r>
          </a:p>
          <a:p>
            <a:pPr algn="l">
              <a:spcBef>
                <a:spcPts val="200"/>
              </a:spcBef>
            </a:pPr>
            <a:r>
              <a:rPr lang="ko-KR" sz="1250">
                <a:solidFill>
                  <a:srgbClr val="6B7686"/>
                </a:solidFill>
              </a:rPr>
              <a:t>청결 = 0</a:t>
            </a:r>
          </a:p>
        </p:txBody>
      </p:sp>
      <p:sp>
        <p:nvSpPr>
          <p:cNvPr id="646" name="r"/>
          <p:cNvSpPr/>
          <p:nvPr/>
        </p:nvSpPr>
        <p:spPr>
          <a:xfrm>
            <a:off x="9372600" y="4495805"/>
            <a:ext cx="1981200" cy="7620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 w="9525"/>
        </p:spPr>
        <p:txBody>
          <a:bodyPr/>
          <a:lstStyle/>
          <a:p>
            <a:endParaRPr/>
          </a:p>
        </p:txBody>
      </p:sp>
      <p:sp>
        <p:nvSpPr>
          <p:cNvPr id="647" name="r"/>
          <p:cNvSpPr/>
          <p:nvPr/>
        </p:nvSpPr>
        <p:spPr>
          <a:xfrm>
            <a:off x="9372600" y="4495805"/>
            <a:ext cx="76200" cy="7620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8" name="t"/>
          <p:cNvSpPr txBox="1"/>
          <p:nvPr/>
        </p:nvSpPr>
        <p:spPr>
          <a:xfrm>
            <a:off x="9601200" y="4597405"/>
            <a:ext cx="16256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500" b="1">
                <a:solidFill>
                  <a:srgbClr val="1B2A4A"/>
                </a:solidFill>
              </a:rPr>
              <a:t>병원</a:t>
            </a:r>
          </a:p>
          <a:p>
            <a:pPr algn="l">
              <a:spcBef>
                <a:spcPts val="200"/>
              </a:spcBef>
            </a:pPr>
            <a:r>
              <a:rPr lang="ko-KR" sz="1250">
                <a:solidFill>
                  <a:srgbClr val="6B7686"/>
                </a:solidFill>
              </a:rPr>
              <a:t>건강 = 0</a:t>
            </a:r>
          </a:p>
        </p:txBody>
      </p:sp>
    </p:spTree>
    <p:extLst>
      <p:ext uri="{BB962C8B-B14F-4D97-AF65-F5344CB8AC3E}">
        <p14:creationId xmlns:p14="http://schemas.microsoft.com/office/powerpoint/2010/main" val="3401978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601">
            <a:extLst>
              <a:ext uri="{FF2B5EF4-FFF2-40B4-BE49-F238E27FC236}">
                <a16:creationId xmlns:a16="http://schemas.microsoft.com/office/drawing/2014/main" id="{855B2B51-A53B-AF9A-FCC4-1B1AA5A40AED}"/>
              </a:ext>
            </a:extLst>
          </p:cNvPr>
          <p:cNvSpPr/>
          <p:nvPr/>
        </p:nvSpPr>
        <p:spPr>
          <a:xfrm>
            <a:off x="9194800" y="584200"/>
            <a:ext cx="2159000" cy="381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602">
            <a:extLst>
              <a:ext uri="{FF2B5EF4-FFF2-40B4-BE49-F238E27FC236}">
                <a16:creationId xmlns:a16="http://schemas.microsoft.com/office/drawing/2014/main" id="{7DC7C208-ABF2-C154-9A18-E1B3E20CDF9D}"/>
              </a:ext>
            </a:extLst>
          </p:cNvPr>
          <p:cNvSpPr txBox="1"/>
          <p:nvPr/>
        </p:nvSpPr>
        <p:spPr>
          <a:xfrm>
            <a:off x="9194800" y="584200"/>
            <a:ext cx="2159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00" b="1" dirty="0">
                <a:solidFill>
                  <a:srgbClr val="FFFFFF"/>
                </a:solidFill>
              </a:rPr>
              <a:t>담당 · </a:t>
            </a:r>
            <a:r>
              <a:rPr lang="ko-KR" altLang="en-US" sz="1300" b="1" dirty="0">
                <a:solidFill>
                  <a:srgbClr val="FFFFFF"/>
                </a:solidFill>
              </a:rPr>
              <a:t>조광일</a:t>
            </a:r>
            <a:endParaRPr lang="ko-KR" sz="1300" b="1" dirty="0">
              <a:solidFill>
                <a:srgbClr val="FFFFFF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E13B6E4-7921-9AE1-9BC9-03BA8343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9652000" cy="736600"/>
          </a:xfrm>
        </p:spPr>
        <p:txBody>
          <a:bodyPr wrap="square">
            <a:noAutofit/>
          </a:bodyPr>
          <a:lstStyle/>
          <a:p>
            <a:pPr algn="l"/>
            <a:r>
              <a:rPr lang="ko-KR" sz="3000" b="1">
                <a:solidFill>
                  <a:srgbClr val="1B2A4A"/>
                </a:solidFill>
              </a:rPr>
              <a:t>게임 엔진 &amp; 입출력 시스템</a:t>
            </a:r>
          </a:p>
        </p:txBody>
      </p:sp>
      <p:sp>
        <p:nvSpPr>
          <p:cNvPr id="603" name="r604"/>
          <p:cNvSpPr/>
          <p:nvPr/>
        </p:nvSpPr>
        <p:spPr>
          <a:xfrm>
            <a:off x="838200" y="1905000"/>
            <a:ext cx="6019800" cy="3810000"/>
          </a:xfrm>
          <a:prstGeom prst="roundRect">
            <a:avLst>
              <a:gd name="adj" fmla="val 14"/>
            </a:avLst>
          </a:prstGeom>
          <a:solidFill>
            <a:srgbClr val="1624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r605"/>
          <p:cNvSpPr/>
          <p:nvPr/>
        </p:nvSpPr>
        <p:spPr>
          <a:xfrm>
            <a:off x="838200" y="1905000"/>
            <a:ext cx="6019800" cy="3556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t606"/>
          <p:cNvSpPr txBox="1"/>
          <p:nvPr/>
        </p:nvSpPr>
        <p:spPr>
          <a:xfrm>
            <a:off x="1041400" y="1943100"/>
            <a:ext cx="5588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1">
                <a:solidFill>
                  <a:srgbClr val="6E84A8"/>
                </a:solidFill>
                <a:latin typeface="Consolas"/>
              </a:rPr>
              <a:t>●  ●  ●     GameEngine::run()</a:t>
            </a:r>
          </a:p>
        </p:txBody>
      </p:sp>
      <p:sp>
        <p:nvSpPr>
          <p:cNvPr id="606" name="t607"/>
          <p:cNvSpPr txBox="1"/>
          <p:nvPr/>
        </p:nvSpPr>
        <p:spPr>
          <a:xfrm>
            <a:off x="1041400" y="2387600"/>
            <a:ext cx="5613400" cy="3251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880"/>
              </a:lnSpc>
            </a:pPr>
            <a:r>
              <a:rPr lang="en-US" sz="1300">
                <a:solidFill>
                  <a:srgbClr val="7FB0E8"/>
                </a:solidFill>
                <a:latin typeface="Consolas"/>
              </a:rPr>
              <a:t>void </a:t>
            </a:r>
            <a:r>
              <a:rPr lang="en-US" sz="1300">
                <a:solidFill>
                  <a:srgbClr val="D7E2F0"/>
                </a:solidFill>
                <a:latin typeface="Consolas"/>
              </a:rPr>
              <a:t>GameEngine::run() {</a:t>
            </a:r>
          </a:p>
          <a:p>
            <a:pPr algn="l">
              <a:lnSpc>
                <a:spcPts val="1880"/>
              </a:lnSpc>
            </a:pPr>
            <a:r>
              <a:rPr lang="en-US" sz="1300">
                <a:solidFill>
                  <a:srgbClr val="7FB0E8"/>
                </a:solidFill>
                <a:latin typeface="Consolas"/>
              </a:rPr>
              <a:t>  while </a:t>
            </a:r>
            <a:r>
              <a:rPr lang="en-US" sz="1300">
                <a:solidFill>
                  <a:srgbClr val="D7E2F0"/>
                </a:solidFill>
                <a:latin typeface="Consolas"/>
              </a:rPr>
              <a:t>(running) {</a:t>
            </a:r>
          </a:p>
          <a:p>
            <a:pPr algn="l">
              <a:lnSpc>
                <a:spcPts val="1880"/>
              </a:lnSpc>
            </a:pPr>
            <a:r>
              <a:rPr lang="en-US" sz="1300">
                <a:solidFill>
                  <a:srgbClr val="7FB0E8"/>
                </a:solidFill>
                <a:latin typeface="Consolas"/>
              </a:rPr>
              <a:t>    auto e = input.pollEvent();</a:t>
            </a:r>
            <a:r>
              <a:rPr lang="ko-KR" sz="1300" i="1">
                <a:solidFill>
                  <a:srgbClr val="6E8AA8"/>
                </a:solidFill>
                <a:latin typeface="Consolas"/>
              </a:rPr>
              <a:t>   // 100ms 타임아웃</a:t>
            </a:r>
          </a:p>
          <a:p>
            <a:pPr algn="l">
              <a:lnSpc>
                <a:spcPts val="1880"/>
              </a:lnSpc>
            </a:pPr>
            <a:r>
              <a:rPr lang="en-US" sz="1300">
                <a:solidFill>
                  <a:srgbClr val="7FB0E8"/>
                </a:solidFill>
                <a:latin typeface="Consolas"/>
              </a:rPr>
              <a:t>    if </a:t>
            </a:r>
            <a:r>
              <a:rPr lang="en-US" sz="1300">
                <a:solidFill>
                  <a:srgbClr val="D7E2F0"/>
                </a:solidFill>
                <a:latin typeface="Consolas"/>
              </a:rPr>
              <a:t>(e.type != NONE) {</a:t>
            </a:r>
          </a:p>
          <a:p>
            <a:pPr algn="l">
              <a:lnSpc>
                <a:spcPts val="1880"/>
              </a:lnSpc>
            </a:pPr>
            <a:r>
              <a:rPr lang="en-US" sz="1300">
                <a:solidFill>
                  <a:srgbClr val="7FB0E8"/>
                </a:solidFill>
                <a:latin typeface="Consolas"/>
              </a:rPr>
              <a:t>      screen-&gt;handleInput(*this, player, e);</a:t>
            </a:r>
          </a:p>
          <a:p>
            <a:pPr algn="l">
              <a:lnSpc>
                <a:spcPts val="1880"/>
              </a:lnSpc>
            </a:pPr>
            <a:r>
              <a:rPr lang="en-US" sz="1300">
                <a:solidFill>
                  <a:srgbClr val="7FB0E8"/>
                </a:solidFill>
                <a:latin typeface="Consolas"/>
              </a:rPr>
              <a:t>      if </a:t>
            </a:r>
            <a:r>
              <a:rPr lang="en-US" sz="1300">
                <a:solidFill>
                  <a:srgbClr val="D7E2F0"/>
                </a:solidFill>
                <a:latin typeface="Consolas"/>
              </a:rPr>
              <a:t>(player.isEndingCondition())</a:t>
            </a:r>
          </a:p>
          <a:p>
            <a:pPr algn="l">
              <a:lnSpc>
                <a:spcPts val="1880"/>
              </a:lnSpc>
            </a:pPr>
            <a:r>
              <a:rPr lang="en-US" sz="1300">
                <a:solidFill>
                  <a:srgbClr val="7FB0E8"/>
                </a:solidFill>
                <a:latin typeface="Consolas"/>
              </a:rPr>
              <a:t>        screen = make_unique&lt;EndingScreen&gt;(et);</a:t>
            </a:r>
          </a:p>
          <a:p>
            <a:pPr algn="l">
              <a:lnSpc>
                <a:spcPts val="1880"/>
              </a:lnSpc>
            </a:pPr>
            <a:r>
              <a:rPr lang="en-US" sz="1300">
                <a:solidFill>
                  <a:srgbClr val="7FB0E8"/>
                </a:solidFill>
                <a:latin typeface="Consolas"/>
              </a:rPr>
              <a:t>    }</a:t>
            </a:r>
          </a:p>
          <a:p>
            <a:pPr algn="l">
              <a:lnSpc>
                <a:spcPts val="1880"/>
              </a:lnSpc>
            </a:pPr>
            <a:r>
              <a:rPr lang="en-US" sz="1300">
                <a:solidFill>
                  <a:srgbClr val="7FB0E8"/>
                </a:solidFill>
                <a:latin typeface="Consolas"/>
              </a:rPr>
              <a:t>    if </a:t>
            </a:r>
            <a:r>
              <a:rPr lang="en-US" sz="1300">
                <a:solidFill>
                  <a:srgbClr val="D7E2F0"/>
                </a:solidFill>
                <a:latin typeface="Consolas"/>
              </a:rPr>
              <a:t>(hasInput || screen-&gt;needsRedraw())</a:t>
            </a:r>
          </a:p>
          <a:p>
            <a:pPr algn="l">
              <a:lnSpc>
                <a:spcPts val="1880"/>
              </a:lnSpc>
            </a:pPr>
            <a:r>
              <a:rPr lang="en-US" sz="1300">
                <a:solidFill>
                  <a:srgbClr val="7FB0E8"/>
                </a:solidFill>
                <a:latin typeface="Consolas"/>
              </a:rPr>
              <a:t>      screen-&gt;render(player);</a:t>
            </a:r>
          </a:p>
          <a:p>
            <a:pPr algn="l">
              <a:lnSpc>
                <a:spcPts val="1880"/>
              </a:lnSpc>
            </a:pPr>
            <a:r>
              <a:rPr lang="en-US" sz="1300">
                <a:solidFill>
                  <a:srgbClr val="7FB0E8"/>
                </a:solidFill>
                <a:latin typeface="Consolas"/>
              </a:rPr>
              <a:t>  }</a:t>
            </a:r>
          </a:p>
          <a:p>
            <a:pPr algn="l">
              <a:lnSpc>
                <a:spcPts val="1880"/>
              </a:lnSpc>
            </a:pPr>
            <a:r>
              <a:rPr lang="en-US" sz="1300">
                <a:solidFill>
                  <a:srgbClr val="7FB0E8"/>
                </a:solidFill>
                <a:latin typeface="Consolas"/>
              </a:rPr>
              <a:t>}</a:t>
            </a:r>
          </a:p>
        </p:txBody>
      </p:sp>
      <p:sp>
        <p:nvSpPr>
          <p:cNvPr id="607" name="r608"/>
          <p:cNvSpPr/>
          <p:nvPr/>
        </p:nvSpPr>
        <p:spPr>
          <a:xfrm>
            <a:off x="7061200" y="1905000"/>
            <a:ext cx="4292600" cy="1219200"/>
          </a:xfrm>
          <a:prstGeom prst="roundRect">
            <a:avLst>
              <a:gd name="adj" fmla="val 10"/>
            </a:avLst>
          </a:prstGeom>
          <a:solidFill>
            <a:srgbClr val="EEF3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r609"/>
          <p:cNvSpPr/>
          <p:nvPr/>
        </p:nvSpPr>
        <p:spPr>
          <a:xfrm>
            <a:off x="7061200" y="1905000"/>
            <a:ext cx="4292600" cy="508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t610"/>
          <p:cNvSpPr txBox="1"/>
          <p:nvPr/>
        </p:nvSpPr>
        <p:spPr>
          <a:xfrm>
            <a:off x="7289800" y="2082800"/>
            <a:ext cx="38608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ko-KR" sz="1500" b="1" dirty="0">
                <a:solidFill>
                  <a:srgbClr val="2563B0"/>
                </a:solidFill>
              </a:rPr>
              <a:t>게임 루프 — </a:t>
            </a:r>
            <a:r>
              <a:rPr lang="ko-KR" sz="1500" b="1" dirty="0" err="1">
                <a:solidFill>
                  <a:srgbClr val="2563B0"/>
                </a:solidFill>
              </a:rPr>
              <a:t>run</a:t>
            </a:r>
            <a:r>
              <a:rPr lang="ko-KR" sz="1500" b="1" dirty="0">
                <a:solidFill>
                  <a:srgbClr val="2563B0"/>
                </a:solidFill>
              </a:rPr>
              <a:t>()</a:t>
            </a:r>
          </a:p>
          <a:p>
            <a:pPr>
              <a:lnSpc>
                <a:spcPts val="1620"/>
              </a:lnSpc>
              <a:spcBef>
                <a:spcPts val="400"/>
              </a:spcBef>
            </a:pPr>
            <a:r>
              <a:rPr lang="ko-KR" sz="1100" dirty="0" err="1">
                <a:solidFill>
                  <a:srgbClr val="2E3A4F"/>
                </a:solidFill>
              </a:rPr>
              <a:t>논블로킹</a:t>
            </a:r>
            <a:r>
              <a:rPr lang="ko-KR" sz="1100" dirty="0">
                <a:solidFill>
                  <a:srgbClr val="2E3A4F"/>
                </a:solidFill>
              </a:rPr>
              <a:t> 입력(100ms) → 엔딩 판정 → 렌더링을 순환하며, </a:t>
            </a:r>
            <a:r>
              <a:rPr lang="ko-KR" sz="1100" dirty="0" err="1">
                <a:solidFill>
                  <a:srgbClr val="2E3A4F"/>
                </a:solidFill>
              </a:rPr>
              <a:t>unique_ptr</a:t>
            </a:r>
            <a:r>
              <a:rPr lang="ko-KR" sz="1100" dirty="0">
                <a:solidFill>
                  <a:srgbClr val="2E3A4F"/>
                </a:solidFill>
              </a:rPr>
              <a:t>&lt;</a:t>
            </a:r>
            <a:r>
              <a:rPr lang="ko-KR" sz="1100" dirty="0" err="1">
                <a:solidFill>
                  <a:srgbClr val="2E3A4F"/>
                </a:solidFill>
              </a:rPr>
              <a:t>Screen</a:t>
            </a:r>
            <a:r>
              <a:rPr lang="ko-KR" sz="1100" dirty="0">
                <a:solidFill>
                  <a:srgbClr val="2E3A4F"/>
                </a:solidFill>
              </a:rPr>
              <a:t>&gt; 하나로 현재 화면을 </a:t>
            </a:r>
            <a:r>
              <a:rPr lang="ko-KR" sz="1100" dirty="0" err="1">
                <a:solidFill>
                  <a:srgbClr val="2E3A4F"/>
                </a:solidFill>
              </a:rPr>
              <a:t>다형성</a:t>
            </a:r>
            <a:r>
              <a:rPr lang="ko-KR" sz="1100" dirty="0">
                <a:solidFill>
                  <a:srgbClr val="2E3A4F"/>
                </a:solidFill>
              </a:rPr>
              <a:t> 관리한다.</a:t>
            </a:r>
          </a:p>
        </p:txBody>
      </p:sp>
      <p:sp>
        <p:nvSpPr>
          <p:cNvPr id="610" name="r611"/>
          <p:cNvSpPr/>
          <p:nvPr/>
        </p:nvSpPr>
        <p:spPr>
          <a:xfrm>
            <a:off x="7061200" y="3225800"/>
            <a:ext cx="4292600" cy="1219200"/>
          </a:xfrm>
          <a:prstGeom prst="roundRect">
            <a:avLst>
              <a:gd name="adj" fmla="val 10"/>
            </a:avLst>
          </a:prstGeom>
          <a:solidFill>
            <a:srgbClr val="EEF3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r612"/>
          <p:cNvSpPr/>
          <p:nvPr/>
        </p:nvSpPr>
        <p:spPr>
          <a:xfrm>
            <a:off x="7061200" y="3225800"/>
            <a:ext cx="4292600" cy="508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t613"/>
          <p:cNvSpPr txBox="1"/>
          <p:nvPr/>
        </p:nvSpPr>
        <p:spPr>
          <a:xfrm>
            <a:off x="7289800" y="3403600"/>
            <a:ext cx="38608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ko-KR" sz="1500" b="1" dirty="0">
                <a:solidFill>
                  <a:srgbClr val="2563B0"/>
                </a:solidFill>
              </a:rPr>
              <a:t>화면 전환 &amp; 엔딩</a:t>
            </a:r>
          </a:p>
          <a:p>
            <a:pPr>
              <a:spcBef>
                <a:spcPts val="400"/>
              </a:spcBef>
            </a:pPr>
            <a:r>
              <a:rPr lang="ko-KR" sz="1100" dirty="0" err="1">
                <a:solidFill>
                  <a:srgbClr val="2E3A4F"/>
                </a:solidFill>
              </a:rPr>
              <a:t>changeScreen</a:t>
            </a:r>
            <a:r>
              <a:rPr lang="ko-KR" sz="1100" dirty="0">
                <a:solidFill>
                  <a:srgbClr val="2E3A4F"/>
                </a:solidFill>
              </a:rPr>
              <a:t>()이 </a:t>
            </a:r>
            <a:r>
              <a:rPr lang="ko-KR" sz="1100" dirty="0" err="1">
                <a:solidFill>
                  <a:srgbClr val="2E3A4F"/>
                </a:solidFill>
              </a:rPr>
              <a:t>std</a:t>
            </a:r>
            <a:r>
              <a:rPr lang="ko-KR" sz="1100" dirty="0">
                <a:solidFill>
                  <a:srgbClr val="2E3A4F"/>
                </a:solidFill>
              </a:rPr>
              <a:t>::</a:t>
            </a:r>
            <a:r>
              <a:rPr lang="ko-KR" sz="1100" dirty="0" err="1">
                <a:solidFill>
                  <a:srgbClr val="2E3A4F"/>
                </a:solidFill>
              </a:rPr>
              <a:t>move로</a:t>
            </a:r>
            <a:r>
              <a:rPr lang="ko-KR" sz="1100" dirty="0">
                <a:solidFill>
                  <a:srgbClr val="2E3A4F"/>
                </a:solidFill>
              </a:rPr>
              <a:t> 소유권을 이전해</a:t>
            </a:r>
            <a:endParaRPr lang="en-US" altLang="ko-KR" sz="1100" dirty="0">
              <a:solidFill>
                <a:srgbClr val="2E3A4F"/>
              </a:solidFill>
            </a:endParaRPr>
          </a:p>
          <a:p>
            <a:pPr>
              <a:spcBef>
                <a:spcPts val="400"/>
              </a:spcBef>
            </a:pPr>
            <a:r>
              <a:rPr lang="ko-KR" sz="1100" dirty="0">
                <a:solidFill>
                  <a:srgbClr val="2E3A4F"/>
                </a:solidFill>
              </a:rPr>
              <a:t>이전 화면을 자동 해제.</a:t>
            </a:r>
            <a:endParaRPr lang="en-US" altLang="ko-KR" sz="1100" dirty="0">
              <a:solidFill>
                <a:srgbClr val="2E3A4F"/>
              </a:solidFill>
            </a:endParaRPr>
          </a:p>
          <a:p>
            <a:pPr>
              <a:spcBef>
                <a:spcPts val="400"/>
              </a:spcBef>
            </a:pPr>
            <a:r>
              <a:rPr lang="ko-KR" sz="1100" dirty="0">
                <a:solidFill>
                  <a:srgbClr val="2E3A4F"/>
                </a:solidFill>
              </a:rPr>
              <a:t>엔딩 5종 분기</a:t>
            </a:r>
            <a:r>
              <a:rPr lang="en-US" altLang="ko-KR" sz="1100" dirty="0">
                <a:solidFill>
                  <a:srgbClr val="2E3A4F"/>
                </a:solidFill>
              </a:rPr>
              <a:t> - </a:t>
            </a:r>
            <a:r>
              <a:rPr lang="ko-KR" sz="1100" dirty="0">
                <a:solidFill>
                  <a:srgbClr val="2E3A4F"/>
                </a:solidFill>
              </a:rPr>
              <a:t>STARVE·RUNAWAY·TRASH·HOSPITAL·HERO.</a:t>
            </a:r>
          </a:p>
        </p:txBody>
      </p:sp>
      <p:sp>
        <p:nvSpPr>
          <p:cNvPr id="613" name="r614"/>
          <p:cNvSpPr/>
          <p:nvPr/>
        </p:nvSpPr>
        <p:spPr>
          <a:xfrm>
            <a:off x="7061200" y="4546600"/>
            <a:ext cx="4292600" cy="1219200"/>
          </a:xfrm>
          <a:prstGeom prst="roundRect">
            <a:avLst>
              <a:gd name="adj" fmla="val 10"/>
            </a:avLst>
          </a:prstGeom>
          <a:solidFill>
            <a:srgbClr val="EEF3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r615"/>
          <p:cNvSpPr/>
          <p:nvPr/>
        </p:nvSpPr>
        <p:spPr>
          <a:xfrm>
            <a:off x="7061200" y="4546600"/>
            <a:ext cx="4292600" cy="508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t616"/>
          <p:cNvSpPr txBox="1"/>
          <p:nvPr/>
        </p:nvSpPr>
        <p:spPr>
          <a:xfrm>
            <a:off x="7289800" y="4724400"/>
            <a:ext cx="3860800" cy="939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ko-KR" sz="1500" b="1" dirty="0" err="1">
                <a:solidFill>
                  <a:srgbClr val="2563B0"/>
                </a:solidFill>
              </a:rPr>
              <a:t>InputHandler</a:t>
            </a:r>
            <a:r>
              <a:rPr lang="ko-KR" sz="1500" b="1" dirty="0">
                <a:solidFill>
                  <a:srgbClr val="2563B0"/>
                </a:solidFill>
              </a:rPr>
              <a:t> — </a:t>
            </a:r>
            <a:r>
              <a:rPr lang="ko-KR" sz="1500" b="1" dirty="0" err="1">
                <a:solidFill>
                  <a:srgbClr val="2563B0"/>
                </a:solidFill>
              </a:rPr>
              <a:t>저수준</a:t>
            </a:r>
            <a:r>
              <a:rPr lang="ko-KR" sz="1500" b="1" dirty="0">
                <a:solidFill>
                  <a:srgbClr val="2563B0"/>
                </a:solidFill>
              </a:rPr>
              <a:t> </a:t>
            </a:r>
            <a:r>
              <a:rPr lang="ko-KR" sz="1500" b="1" dirty="0" err="1">
                <a:solidFill>
                  <a:srgbClr val="2563B0"/>
                </a:solidFill>
              </a:rPr>
              <a:t>I</a:t>
            </a:r>
            <a:r>
              <a:rPr lang="ko-KR" sz="1500" b="1" dirty="0">
                <a:solidFill>
                  <a:srgbClr val="2563B0"/>
                </a:solidFill>
              </a:rPr>
              <a:t>/</a:t>
            </a:r>
            <a:r>
              <a:rPr lang="ko-KR" sz="1500" b="1" dirty="0" err="1">
                <a:solidFill>
                  <a:srgbClr val="2563B0"/>
                </a:solidFill>
              </a:rPr>
              <a:t>O</a:t>
            </a:r>
            <a:endParaRPr lang="ko-KR" sz="1500" b="1" dirty="0">
              <a:solidFill>
                <a:srgbClr val="2563B0"/>
              </a:solidFill>
            </a:endParaRPr>
          </a:p>
          <a:p>
            <a:pPr>
              <a:lnSpc>
                <a:spcPts val="1620"/>
              </a:lnSpc>
              <a:spcBef>
                <a:spcPts val="400"/>
              </a:spcBef>
            </a:pPr>
            <a:r>
              <a:rPr lang="ko-KR" sz="1100" dirty="0" err="1">
                <a:solidFill>
                  <a:srgbClr val="2E3A4F"/>
                </a:solidFill>
              </a:rPr>
              <a:t>termios</a:t>
            </a:r>
            <a:r>
              <a:rPr lang="ko-KR" sz="1100" dirty="0">
                <a:solidFill>
                  <a:srgbClr val="2E3A4F"/>
                </a:solidFill>
              </a:rPr>
              <a:t> </a:t>
            </a:r>
            <a:r>
              <a:rPr lang="ko-KR" sz="1100" dirty="0" err="1">
                <a:solidFill>
                  <a:srgbClr val="2E3A4F"/>
                </a:solidFill>
              </a:rPr>
              <a:t>raw</a:t>
            </a:r>
            <a:r>
              <a:rPr lang="ko-KR" sz="1100" dirty="0">
                <a:solidFill>
                  <a:srgbClr val="2E3A4F"/>
                </a:solidFill>
              </a:rPr>
              <a:t> </a:t>
            </a:r>
            <a:r>
              <a:rPr lang="ko-KR" sz="1100" dirty="0" err="1">
                <a:solidFill>
                  <a:srgbClr val="2E3A4F"/>
                </a:solidFill>
              </a:rPr>
              <a:t>mode를</a:t>
            </a:r>
            <a:r>
              <a:rPr lang="ko-KR" sz="1100" dirty="0">
                <a:solidFill>
                  <a:srgbClr val="2E3A4F"/>
                </a:solidFill>
              </a:rPr>
              <a:t> </a:t>
            </a:r>
            <a:r>
              <a:rPr lang="ko-KR" sz="1100" dirty="0" err="1">
                <a:solidFill>
                  <a:srgbClr val="2E3A4F"/>
                </a:solidFill>
              </a:rPr>
              <a:t>RAII로</a:t>
            </a:r>
            <a:r>
              <a:rPr lang="ko-KR" sz="1100" dirty="0">
                <a:solidFill>
                  <a:srgbClr val="2E3A4F"/>
                </a:solidFill>
              </a:rPr>
              <a:t> 적용해 비정상 종료(</a:t>
            </a:r>
            <a:r>
              <a:rPr lang="ko-KR" sz="1100" dirty="0" err="1">
                <a:solidFill>
                  <a:srgbClr val="2E3A4F"/>
                </a:solidFill>
              </a:rPr>
              <a:t>Ctrl+C</a:t>
            </a:r>
            <a:r>
              <a:rPr lang="ko-KR" sz="1100" dirty="0">
                <a:solidFill>
                  <a:srgbClr val="2E3A4F"/>
                </a:solidFill>
              </a:rPr>
              <a:t>)에도 터미널을 복원하고, </a:t>
            </a:r>
            <a:r>
              <a:rPr lang="ko-KR" sz="1100" dirty="0" err="1">
                <a:solidFill>
                  <a:srgbClr val="2E3A4F"/>
                </a:solidFill>
              </a:rPr>
              <a:t>xterm</a:t>
            </a:r>
            <a:r>
              <a:rPr lang="ko-KR" sz="1100" dirty="0">
                <a:solidFill>
                  <a:srgbClr val="2E3A4F"/>
                </a:solidFill>
              </a:rPr>
              <a:t> 마우스 ESC 코드를 직접 </a:t>
            </a:r>
            <a:r>
              <a:rPr lang="ko-KR" sz="1100" dirty="0" err="1">
                <a:solidFill>
                  <a:srgbClr val="2E3A4F"/>
                </a:solidFill>
              </a:rPr>
              <a:t>파싱한다</a:t>
            </a:r>
            <a:r>
              <a:rPr lang="ko-KR" sz="1100" dirty="0">
                <a:solidFill>
                  <a:srgbClr val="2E3A4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96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D0FA99-2095-2441-40BC-D2E770AF5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9652000" cy="711200"/>
          </a:xfrm>
        </p:spPr>
        <p:txBody>
          <a:bodyPr wrap="square">
            <a:noAutofit/>
          </a:bodyPr>
          <a:lstStyle/>
          <a:p>
            <a:pPr>
              <a:buNone/>
            </a:pPr>
            <a:r>
              <a:rPr lang="ko-KR" sz="3000" b="1" dirty="0">
                <a:solidFill>
                  <a:srgbClr val="1B2A4A"/>
                </a:solidFill>
              </a:rPr>
              <a:t>육성 &amp; 훈련 시스템</a:t>
            </a:r>
          </a:p>
        </p:txBody>
      </p:sp>
      <p:sp>
        <p:nvSpPr>
          <p:cNvPr id="601" name="r"/>
          <p:cNvSpPr/>
          <p:nvPr/>
        </p:nvSpPr>
        <p:spPr>
          <a:xfrm>
            <a:off x="6121400" y="1905000"/>
            <a:ext cx="12700" cy="38100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t"/>
          <p:cNvSpPr txBox="1"/>
          <p:nvPr/>
        </p:nvSpPr>
        <p:spPr>
          <a:xfrm>
            <a:off x="838200" y="1905000"/>
            <a:ext cx="51562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700" b="1" dirty="0">
                <a:solidFill>
                  <a:srgbClr val="1B2A4A"/>
                </a:solidFill>
              </a:rPr>
              <a:t>육성 시스템</a:t>
            </a:r>
            <a:r>
              <a:rPr lang="ko-KR" sz="1250" dirty="0">
                <a:solidFill>
                  <a:srgbClr val="8C97A8"/>
                </a:solidFill>
              </a:rPr>
              <a:t>   </a:t>
            </a:r>
            <a:r>
              <a:rPr lang="ko-KR" sz="1250" dirty="0" err="1">
                <a:solidFill>
                  <a:srgbClr val="8C97A8"/>
                </a:solidFill>
              </a:rPr>
              <a:t>정주연</a:t>
            </a:r>
            <a:endParaRPr lang="ko-KR" sz="1250" dirty="0">
              <a:solidFill>
                <a:srgbClr val="8C97A8"/>
              </a:solidFill>
            </a:endParaRPr>
          </a:p>
        </p:txBody>
      </p:sp>
      <p:sp>
        <p:nvSpPr>
          <p:cNvPr id="603" name="r"/>
          <p:cNvSpPr/>
          <p:nvPr/>
        </p:nvSpPr>
        <p:spPr>
          <a:xfrm>
            <a:off x="838200" y="2336800"/>
            <a:ext cx="1168400" cy="6604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r"/>
          <p:cNvSpPr/>
          <p:nvPr/>
        </p:nvSpPr>
        <p:spPr>
          <a:xfrm>
            <a:off x="838200" y="2336800"/>
            <a:ext cx="1168400" cy="50800"/>
          </a:xfrm>
          <a:prstGeom prst="rect">
            <a:avLst/>
          </a:prstGeom>
          <a:solidFill>
            <a:srgbClr val="5B8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t"/>
          <p:cNvSpPr txBox="1"/>
          <p:nvPr/>
        </p:nvSpPr>
        <p:spPr>
          <a:xfrm>
            <a:off x="914400" y="2451100"/>
            <a:ext cx="101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sz="1150">
                <a:solidFill>
                  <a:srgbClr val="5B6B82"/>
                </a:solidFill>
              </a:rPr>
              <a:t>배고픔</a:t>
            </a:r>
          </a:p>
          <a:p>
            <a:pPr algn="ctr">
              <a:spcBef>
                <a:spcPts val="100"/>
              </a:spcBef>
              <a:buNone/>
            </a:pPr>
            <a:r>
              <a:rPr lang="ko-KR" sz="1900" b="1">
                <a:solidFill>
                  <a:srgbClr val="1B2A4A"/>
                </a:solidFill>
              </a:rPr>
              <a:t>70</a:t>
            </a:r>
          </a:p>
        </p:txBody>
      </p:sp>
      <p:sp>
        <p:nvSpPr>
          <p:cNvPr id="606" name="r"/>
          <p:cNvSpPr/>
          <p:nvPr/>
        </p:nvSpPr>
        <p:spPr>
          <a:xfrm>
            <a:off x="2108200" y="2336800"/>
            <a:ext cx="1168400" cy="6604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r"/>
          <p:cNvSpPr/>
          <p:nvPr/>
        </p:nvSpPr>
        <p:spPr>
          <a:xfrm>
            <a:off x="2108200" y="2336800"/>
            <a:ext cx="1168400" cy="50800"/>
          </a:xfrm>
          <a:prstGeom prst="rect">
            <a:avLst/>
          </a:prstGeom>
          <a:solidFill>
            <a:srgbClr val="5B8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t"/>
          <p:cNvSpPr txBox="1"/>
          <p:nvPr/>
        </p:nvSpPr>
        <p:spPr>
          <a:xfrm>
            <a:off x="2184400" y="2451100"/>
            <a:ext cx="101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sz="1150">
                <a:solidFill>
                  <a:srgbClr val="5B6B82"/>
                </a:solidFill>
              </a:rPr>
              <a:t>행복도</a:t>
            </a:r>
          </a:p>
          <a:p>
            <a:pPr algn="ctr">
              <a:spcBef>
                <a:spcPts val="100"/>
              </a:spcBef>
              <a:buNone/>
            </a:pPr>
            <a:r>
              <a:rPr lang="ko-KR" sz="1900" b="1">
                <a:solidFill>
                  <a:srgbClr val="1B2A4A"/>
                </a:solidFill>
              </a:rPr>
              <a:t>70</a:t>
            </a:r>
          </a:p>
        </p:txBody>
      </p:sp>
      <p:sp>
        <p:nvSpPr>
          <p:cNvPr id="609" name="r"/>
          <p:cNvSpPr/>
          <p:nvPr/>
        </p:nvSpPr>
        <p:spPr>
          <a:xfrm>
            <a:off x="3378200" y="2336800"/>
            <a:ext cx="1168400" cy="6604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r"/>
          <p:cNvSpPr/>
          <p:nvPr/>
        </p:nvSpPr>
        <p:spPr>
          <a:xfrm>
            <a:off x="3378200" y="2336800"/>
            <a:ext cx="1168400" cy="50800"/>
          </a:xfrm>
          <a:prstGeom prst="rect">
            <a:avLst/>
          </a:prstGeom>
          <a:solidFill>
            <a:srgbClr val="5B8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t"/>
          <p:cNvSpPr txBox="1"/>
          <p:nvPr/>
        </p:nvSpPr>
        <p:spPr>
          <a:xfrm>
            <a:off x="3454400" y="2451100"/>
            <a:ext cx="101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sz="1150">
                <a:solidFill>
                  <a:srgbClr val="5B6B82"/>
                </a:solidFill>
              </a:rPr>
              <a:t>청결도</a:t>
            </a:r>
          </a:p>
          <a:p>
            <a:pPr algn="ctr">
              <a:spcBef>
                <a:spcPts val="100"/>
              </a:spcBef>
              <a:buNone/>
            </a:pPr>
            <a:r>
              <a:rPr lang="ko-KR" sz="1900" b="1">
                <a:solidFill>
                  <a:srgbClr val="1B2A4A"/>
                </a:solidFill>
              </a:rPr>
              <a:t>70</a:t>
            </a:r>
          </a:p>
        </p:txBody>
      </p:sp>
      <p:sp>
        <p:nvSpPr>
          <p:cNvPr id="612" name="r"/>
          <p:cNvSpPr/>
          <p:nvPr/>
        </p:nvSpPr>
        <p:spPr>
          <a:xfrm>
            <a:off x="4648200" y="2336800"/>
            <a:ext cx="1168400" cy="6604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r"/>
          <p:cNvSpPr/>
          <p:nvPr/>
        </p:nvSpPr>
        <p:spPr>
          <a:xfrm>
            <a:off x="4648200" y="2336800"/>
            <a:ext cx="1168400" cy="50800"/>
          </a:xfrm>
          <a:prstGeom prst="rect">
            <a:avLst/>
          </a:prstGeom>
          <a:solidFill>
            <a:srgbClr val="5B8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t"/>
          <p:cNvSpPr txBox="1"/>
          <p:nvPr/>
        </p:nvSpPr>
        <p:spPr>
          <a:xfrm>
            <a:off x="4724400" y="2451100"/>
            <a:ext cx="1016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sz="1150">
                <a:solidFill>
                  <a:srgbClr val="5B6B82"/>
                </a:solidFill>
              </a:rPr>
              <a:t>건강</a:t>
            </a:r>
          </a:p>
          <a:p>
            <a:pPr algn="ctr">
              <a:spcBef>
                <a:spcPts val="100"/>
              </a:spcBef>
              <a:buNone/>
            </a:pPr>
            <a:r>
              <a:rPr lang="ko-KR" sz="1900" b="1">
                <a:solidFill>
                  <a:srgbClr val="1B2A4A"/>
                </a:solidFill>
              </a:rPr>
              <a:t>70</a:t>
            </a:r>
          </a:p>
        </p:txBody>
      </p:sp>
      <p:sp>
        <p:nvSpPr>
          <p:cNvPr id="615" name="t"/>
          <p:cNvSpPr txBox="1"/>
          <p:nvPr/>
        </p:nvSpPr>
        <p:spPr>
          <a:xfrm>
            <a:off x="838200" y="3149600"/>
            <a:ext cx="5156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300" b="1">
                <a:solidFill>
                  <a:srgbClr val="2563B0"/>
                </a:solidFill>
              </a:rPr>
              <a:t>액션 4종 · 모두 1.2초 애니메이션</a:t>
            </a:r>
          </a:p>
        </p:txBody>
      </p:sp>
      <p:sp>
        <p:nvSpPr>
          <p:cNvPr id="616" name="r"/>
          <p:cNvSpPr/>
          <p:nvPr/>
        </p:nvSpPr>
        <p:spPr>
          <a:xfrm>
            <a:off x="838200" y="3543300"/>
            <a:ext cx="76200" cy="76200"/>
          </a:xfrm>
          <a:prstGeom prst="ellipse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7" name="t"/>
          <p:cNvSpPr txBox="1"/>
          <p:nvPr/>
        </p:nvSpPr>
        <p:spPr>
          <a:xfrm>
            <a:off x="1041400" y="3479800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400" b="1">
                <a:solidFill>
                  <a:srgbClr val="1B2A4A"/>
                </a:solidFill>
              </a:rPr>
              <a:t>밥주기  </a:t>
            </a:r>
            <a:r>
              <a:rPr lang="ko-KR" sz="1350">
                <a:solidFill>
                  <a:srgbClr val="2E3A4F"/>
                </a:solidFill>
              </a:rPr>
              <a:t>배고픔 +20 · 행복 +5</a:t>
            </a:r>
            <a:r>
              <a:rPr lang="ko-KR" sz="1200">
                <a:solidFill>
                  <a:srgbClr val="8C97A8"/>
                </a:solidFill>
              </a:rPr>
              <a:t>   (무료)</a:t>
            </a:r>
          </a:p>
        </p:txBody>
      </p:sp>
      <p:sp>
        <p:nvSpPr>
          <p:cNvPr id="618" name="r"/>
          <p:cNvSpPr/>
          <p:nvPr/>
        </p:nvSpPr>
        <p:spPr>
          <a:xfrm>
            <a:off x="838200" y="3924300"/>
            <a:ext cx="76200" cy="76200"/>
          </a:xfrm>
          <a:prstGeom prst="ellipse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9" name="t"/>
          <p:cNvSpPr txBox="1"/>
          <p:nvPr/>
        </p:nvSpPr>
        <p:spPr>
          <a:xfrm>
            <a:off x="1041400" y="3860800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400" b="1">
                <a:solidFill>
                  <a:srgbClr val="1B2A4A"/>
                </a:solidFill>
              </a:rPr>
              <a:t>목욕하기  </a:t>
            </a:r>
            <a:r>
              <a:rPr lang="ko-KR" sz="1350">
                <a:solidFill>
                  <a:srgbClr val="2E3A4F"/>
                </a:solidFill>
              </a:rPr>
              <a:t>청결 +30 · 행복 −5</a:t>
            </a:r>
            <a:r>
              <a:rPr lang="ko-KR" sz="1200">
                <a:solidFill>
                  <a:srgbClr val="8C97A8"/>
                </a:solidFill>
              </a:rPr>
              <a:t>   (무료)</a:t>
            </a:r>
          </a:p>
        </p:txBody>
      </p:sp>
      <p:sp>
        <p:nvSpPr>
          <p:cNvPr id="620" name="r"/>
          <p:cNvSpPr/>
          <p:nvPr/>
        </p:nvSpPr>
        <p:spPr>
          <a:xfrm>
            <a:off x="838200" y="4305300"/>
            <a:ext cx="76200" cy="76200"/>
          </a:xfrm>
          <a:prstGeom prst="ellipse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1" name="t"/>
          <p:cNvSpPr txBox="1"/>
          <p:nvPr/>
        </p:nvSpPr>
        <p:spPr>
          <a:xfrm>
            <a:off x="1041400" y="4241800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400" b="1">
                <a:solidFill>
                  <a:srgbClr val="1B2A4A"/>
                </a:solidFill>
              </a:rPr>
              <a:t>놀아주기  </a:t>
            </a:r>
            <a:r>
              <a:rPr lang="ko-KR" sz="1350">
                <a:solidFill>
                  <a:srgbClr val="2E3A4F"/>
                </a:solidFill>
              </a:rPr>
              <a:t>행복 +20 · 배고픔·청결 −10</a:t>
            </a:r>
            <a:r>
              <a:rPr lang="ko-KR" sz="1200">
                <a:solidFill>
                  <a:srgbClr val="8C97A8"/>
                </a:solidFill>
              </a:rPr>
              <a:t>   (무료)</a:t>
            </a:r>
          </a:p>
        </p:txBody>
      </p:sp>
      <p:sp>
        <p:nvSpPr>
          <p:cNvPr id="622" name="r"/>
          <p:cNvSpPr/>
          <p:nvPr/>
        </p:nvSpPr>
        <p:spPr>
          <a:xfrm>
            <a:off x="838200" y="4686300"/>
            <a:ext cx="76200" cy="76200"/>
          </a:xfrm>
          <a:prstGeom prst="ellipse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3" name="t"/>
          <p:cNvSpPr txBox="1"/>
          <p:nvPr/>
        </p:nvSpPr>
        <p:spPr>
          <a:xfrm>
            <a:off x="1041400" y="4622800"/>
            <a:ext cx="4953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400" b="1">
                <a:solidFill>
                  <a:srgbClr val="1B2A4A"/>
                </a:solidFill>
              </a:rPr>
              <a:t>치료하기  </a:t>
            </a:r>
            <a:r>
              <a:rPr lang="ko-KR" sz="1350">
                <a:solidFill>
                  <a:srgbClr val="2E3A4F"/>
                </a:solidFill>
              </a:rPr>
              <a:t>건강 +30</a:t>
            </a:r>
            <a:r>
              <a:rPr lang="ko-KR" sz="1200">
                <a:solidFill>
                  <a:srgbClr val="8C97A8"/>
                </a:solidFill>
              </a:rPr>
              <a:t>   (100원)</a:t>
            </a:r>
          </a:p>
        </p:txBody>
      </p:sp>
      <p:sp>
        <p:nvSpPr>
          <p:cNvPr id="624" name="r"/>
          <p:cNvSpPr/>
          <p:nvPr/>
        </p:nvSpPr>
        <p:spPr>
          <a:xfrm>
            <a:off x="838200" y="5105400"/>
            <a:ext cx="5156200" cy="736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5" name="t"/>
          <p:cNvSpPr txBox="1"/>
          <p:nvPr/>
        </p:nvSpPr>
        <p:spPr>
          <a:xfrm>
            <a:off x="1041400" y="5207000"/>
            <a:ext cx="47498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ko-KR" sz="1300" b="1">
                <a:solidFill>
                  <a:srgbClr val="C9A227"/>
                </a:solidFill>
              </a:rPr>
              <a:t>전투 후 afterBattle  </a:t>
            </a:r>
            <a:r>
              <a:rPr lang="ko-KR" sz="1250">
                <a:solidFill>
                  <a:srgbClr val="FFFFFF"/>
                </a:solidFill>
              </a:rPr>
              <a:t>매 전투마다 건강 −1 + {배고픔·행복·청결} 무작위 1개 −1 → 전투를 반복할수록 육성 관리가 필수.</a:t>
            </a:r>
          </a:p>
        </p:txBody>
      </p:sp>
      <p:sp>
        <p:nvSpPr>
          <p:cNvPr id="626" name="t"/>
          <p:cNvSpPr txBox="1"/>
          <p:nvPr/>
        </p:nvSpPr>
        <p:spPr>
          <a:xfrm>
            <a:off x="6375400" y="1905000"/>
            <a:ext cx="49784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700" b="1" dirty="0">
                <a:solidFill>
                  <a:srgbClr val="1B2A4A"/>
                </a:solidFill>
              </a:rPr>
              <a:t>훈련 미니게임 3종</a:t>
            </a:r>
            <a:r>
              <a:rPr lang="ko-KR" sz="1250" dirty="0">
                <a:solidFill>
                  <a:srgbClr val="8C97A8"/>
                </a:solidFill>
              </a:rPr>
              <a:t>   이현빈</a:t>
            </a:r>
          </a:p>
        </p:txBody>
      </p:sp>
      <p:sp>
        <p:nvSpPr>
          <p:cNvPr id="627" name="r"/>
          <p:cNvSpPr/>
          <p:nvPr/>
        </p:nvSpPr>
        <p:spPr>
          <a:xfrm>
            <a:off x="6375400" y="2311400"/>
            <a:ext cx="4978400" cy="5080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8" name="t"/>
          <p:cNvSpPr txBox="1"/>
          <p:nvPr/>
        </p:nvSpPr>
        <p:spPr>
          <a:xfrm>
            <a:off x="6553200" y="2413000"/>
            <a:ext cx="46228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ts val="1500"/>
              </a:lnSpc>
              <a:buNone/>
            </a:pPr>
            <a:r>
              <a:rPr lang="ko-KR" sz="1300" b="1">
                <a:solidFill>
                  <a:srgbClr val="2563B0"/>
                </a:solidFill>
              </a:rPr>
              <a:t>훈련으로 전투 스탯 강화  </a:t>
            </a:r>
            <a:r>
              <a:rPr lang="ko-KR" sz="1300">
                <a:solidFill>
                  <a:srgbClr val="2E3A4F"/>
                </a:solidFill>
              </a:rPr>
              <a:t>공격력 20 · 최대 HP 100 · 민첩 5%</a:t>
            </a:r>
          </a:p>
        </p:txBody>
      </p:sp>
      <p:sp>
        <p:nvSpPr>
          <p:cNvPr id="629" name="r"/>
          <p:cNvSpPr/>
          <p:nvPr/>
        </p:nvSpPr>
        <p:spPr>
          <a:xfrm>
            <a:off x="6375400" y="2946400"/>
            <a:ext cx="4978400" cy="8890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0" name="r"/>
          <p:cNvSpPr/>
          <p:nvPr/>
        </p:nvSpPr>
        <p:spPr>
          <a:xfrm>
            <a:off x="6375400" y="2946400"/>
            <a:ext cx="63500" cy="8890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1" name="t"/>
          <p:cNvSpPr txBox="1"/>
          <p:nvPr/>
        </p:nvSpPr>
        <p:spPr>
          <a:xfrm>
            <a:off x="6578600" y="3073400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500" b="1">
                <a:solidFill>
                  <a:srgbClr val="1B2A4A"/>
                </a:solidFill>
              </a:rPr>
              <a:t>샌드백치기</a:t>
            </a:r>
          </a:p>
          <a:p>
            <a:pPr>
              <a:lnSpc>
                <a:spcPts val="1400"/>
              </a:lnSpc>
              <a:spcBef>
                <a:spcPts val="200"/>
              </a:spcBef>
              <a:buNone/>
            </a:pPr>
            <a:r>
              <a:rPr lang="ko-KR" sz="1250">
                <a:solidFill>
                  <a:srgbClr val="5B6B82"/>
                </a:solidFill>
              </a:rPr>
              <a:t>버튼 10회 클릭 · 퍽! 피드백 · 진행 바</a:t>
            </a:r>
          </a:p>
        </p:txBody>
      </p:sp>
      <p:sp>
        <p:nvSpPr>
          <p:cNvPr id="632" name="r"/>
          <p:cNvSpPr/>
          <p:nvPr/>
        </p:nvSpPr>
        <p:spPr>
          <a:xfrm>
            <a:off x="9779000" y="3175000"/>
            <a:ext cx="1447800" cy="431800"/>
          </a:xfrm>
          <a:prstGeom prst="roundRect">
            <a:avLst>
              <a:gd name="adj" fmla="val 8000"/>
            </a:avLst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t"/>
          <p:cNvSpPr txBox="1"/>
          <p:nvPr/>
        </p:nvSpPr>
        <p:spPr>
          <a:xfrm>
            <a:off x="9779000" y="3175000"/>
            <a:ext cx="14478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</a:rPr>
              <a:t>공격력 +8</a:t>
            </a:r>
          </a:p>
        </p:txBody>
      </p:sp>
      <p:sp>
        <p:nvSpPr>
          <p:cNvPr id="634" name="r"/>
          <p:cNvSpPr/>
          <p:nvPr/>
        </p:nvSpPr>
        <p:spPr>
          <a:xfrm>
            <a:off x="6375400" y="3937000"/>
            <a:ext cx="4978400" cy="8890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r"/>
          <p:cNvSpPr/>
          <p:nvPr/>
        </p:nvSpPr>
        <p:spPr>
          <a:xfrm>
            <a:off x="6375400" y="3937000"/>
            <a:ext cx="63500" cy="8890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t"/>
          <p:cNvSpPr txBox="1"/>
          <p:nvPr/>
        </p:nvSpPr>
        <p:spPr>
          <a:xfrm>
            <a:off x="6578600" y="4064000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500" b="1">
                <a:solidFill>
                  <a:srgbClr val="1B2A4A"/>
                </a:solidFill>
              </a:rPr>
              <a:t>달리기</a:t>
            </a:r>
          </a:p>
          <a:p>
            <a:pPr>
              <a:lnSpc>
                <a:spcPts val="1400"/>
              </a:lnSpc>
              <a:spcBef>
                <a:spcPts val="200"/>
              </a:spcBef>
              <a:buNone/>
            </a:pPr>
            <a:r>
              <a:rPr lang="ko-KR" sz="1250">
                <a:solidFill>
                  <a:srgbClr val="5B6B82"/>
                </a:solidFill>
              </a:rPr>
              <a:t>10걸음 클릭 · 캐릭터 결승선 이동</a:t>
            </a:r>
          </a:p>
        </p:txBody>
      </p:sp>
      <p:sp>
        <p:nvSpPr>
          <p:cNvPr id="637" name="r"/>
          <p:cNvSpPr/>
          <p:nvPr/>
        </p:nvSpPr>
        <p:spPr>
          <a:xfrm>
            <a:off x="9779000" y="4165600"/>
            <a:ext cx="1447800" cy="431800"/>
          </a:xfrm>
          <a:prstGeom prst="roundRect">
            <a:avLst>
              <a:gd name="adj" fmla="val 8000"/>
            </a:avLst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t"/>
          <p:cNvSpPr txBox="1"/>
          <p:nvPr/>
        </p:nvSpPr>
        <p:spPr>
          <a:xfrm>
            <a:off x="9779000" y="4165600"/>
            <a:ext cx="14478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</a:rPr>
              <a:t>최대 HP +20</a:t>
            </a:r>
          </a:p>
        </p:txBody>
      </p:sp>
      <p:sp>
        <p:nvSpPr>
          <p:cNvPr id="639" name="r"/>
          <p:cNvSpPr/>
          <p:nvPr/>
        </p:nvSpPr>
        <p:spPr>
          <a:xfrm>
            <a:off x="6375400" y="4927600"/>
            <a:ext cx="4978400" cy="8890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r"/>
          <p:cNvSpPr/>
          <p:nvPr/>
        </p:nvSpPr>
        <p:spPr>
          <a:xfrm>
            <a:off x="6375400" y="4927600"/>
            <a:ext cx="63500" cy="8890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t"/>
          <p:cNvSpPr txBox="1"/>
          <p:nvPr/>
        </p:nvSpPr>
        <p:spPr>
          <a:xfrm>
            <a:off x="6578600" y="5054600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500" b="1">
                <a:solidFill>
                  <a:srgbClr val="1B2A4A"/>
                </a:solidFill>
              </a:rPr>
              <a:t>반응속도</a:t>
            </a:r>
          </a:p>
          <a:p>
            <a:pPr>
              <a:lnSpc>
                <a:spcPts val="1400"/>
              </a:lnSpc>
              <a:spcBef>
                <a:spcPts val="200"/>
              </a:spcBef>
              <a:buNone/>
            </a:pPr>
            <a:r>
              <a:rPr lang="ko-KR" sz="1250">
                <a:solidFill>
                  <a:srgbClr val="5B6B82"/>
                </a:solidFill>
              </a:rPr>
              <a:t>신호 직후 클릭 · 논블로킹 chrono 타이머</a:t>
            </a:r>
          </a:p>
        </p:txBody>
      </p:sp>
      <p:sp>
        <p:nvSpPr>
          <p:cNvPr id="642" name="r"/>
          <p:cNvSpPr/>
          <p:nvPr/>
        </p:nvSpPr>
        <p:spPr>
          <a:xfrm>
            <a:off x="9779000" y="5156200"/>
            <a:ext cx="1447800" cy="431800"/>
          </a:xfrm>
          <a:prstGeom prst="roundRect">
            <a:avLst>
              <a:gd name="adj" fmla="val 8000"/>
            </a:avLst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t"/>
          <p:cNvSpPr txBox="1"/>
          <p:nvPr/>
        </p:nvSpPr>
        <p:spPr>
          <a:xfrm>
            <a:off x="9779000" y="5156200"/>
            <a:ext cx="14478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</a:rPr>
              <a:t>민첩 +1~6</a:t>
            </a:r>
          </a:p>
        </p:txBody>
      </p:sp>
    </p:spTree>
    <p:extLst>
      <p:ext uri="{BB962C8B-B14F-4D97-AF65-F5344CB8AC3E}">
        <p14:creationId xmlns:p14="http://schemas.microsoft.com/office/powerpoint/2010/main" val="3017158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601">
            <a:extLst>
              <a:ext uri="{FF2B5EF4-FFF2-40B4-BE49-F238E27FC236}">
                <a16:creationId xmlns:a16="http://schemas.microsoft.com/office/drawing/2014/main" id="{58C75473-1A37-83FF-3BD4-142006ADC2D5}"/>
              </a:ext>
            </a:extLst>
          </p:cNvPr>
          <p:cNvSpPr/>
          <p:nvPr/>
        </p:nvSpPr>
        <p:spPr>
          <a:xfrm>
            <a:off x="9194800" y="590550"/>
            <a:ext cx="2159000" cy="381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602">
            <a:extLst>
              <a:ext uri="{FF2B5EF4-FFF2-40B4-BE49-F238E27FC236}">
                <a16:creationId xmlns:a16="http://schemas.microsoft.com/office/drawing/2014/main" id="{85C98121-65E6-E58F-454B-6FDFA642C89A}"/>
              </a:ext>
            </a:extLst>
          </p:cNvPr>
          <p:cNvSpPr txBox="1"/>
          <p:nvPr/>
        </p:nvSpPr>
        <p:spPr>
          <a:xfrm>
            <a:off x="9194800" y="590550"/>
            <a:ext cx="2159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00" b="1">
                <a:solidFill>
                  <a:srgbClr val="FFFFFF"/>
                </a:solidFill>
              </a:rPr>
              <a:t>담당 · 김태현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A92582B-A08F-D911-FCCB-03D9BC137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7620000" cy="711200"/>
          </a:xfrm>
        </p:spPr>
        <p:txBody>
          <a:bodyPr wrap="square">
            <a:noAutofit/>
          </a:bodyPr>
          <a:lstStyle/>
          <a:p>
            <a:pPr>
              <a:buNone/>
            </a:pPr>
            <a:r>
              <a:rPr lang="ko-KR" sz="3000" b="1">
                <a:solidFill>
                  <a:srgbClr val="1B2A4A"/>
                </a:solidFill>
              </a:rPr>
              <a:t>전투 시스템</a:t>
            </a:r>
          </a:p>
        </p:txBody>
      </p:sp>
      <p:sp>
        <p:nvSpPr>
          <p:cNvPr id="603" name="r"/>
          <p:cNvSpPr/>
          <p:nvPr/>
        </p:nvSpPr>
        <p:spPr>
          <a:xfrm>
            <a:off x="838200" y="1905000"/>
            <a:ext cx="10515600" cy="4191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t"/>
          <p:cNvSpPr txBox="1"/>
          <p:nvPr/>
        </p:nvSpPr>
        <p:spPr>
          <a:xfrm>
            <a:off x="838200" y="19050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 b="1">
                <a:solidFill>
                  <a:srgbClr val="FFFFFF"/>
                </a:solidFill>
              </a:rPr>
              <a:t>스테이지</a:t>
            </a:r>
          </a:p>
        </p:txBody>
      </p:sp>
      <p:sp>
        <p:nvSpPr>
          <p:cNvPr id="605" name="t"/>
          <p:cNvSpPr txBox="1"/>
          <p:nvPr/>
        </p:nvSpPr>
        <p:spPr>
          <a:xfrm>
            <a:off x="2514600" y="1905000"/>
            <a:ext cx="27686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sz="1400" b="1">
                <a:solidFill>
                  <a:srgbClr val="FFFFFF"/>
                </a:solidFill>
              </a:rPr>
              <a:t>몬스터</a:t>
            </a:r>
          </a:p>
        </p:txBody>
      </p:sp>
      <p:sp>
        <p:nvSpPr>
          <p:cNvPr id="606" name="t"/>
          <p:cNvSpPr txBox="1"/>
          <p:nvPr/>
        </p:nvSpPr>
        <p:spPr>
          <a:xfrm>
            <a:off x="5283200" y="1905000"/>
            <a:ext cx="1397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 b="1">
                <a:solidFill>
                  <a:srgbClr val="FFFFFF"/>
                </a:solidFill>
              </a:rPr>
              <a:t>HP</a:t>
            </a:r>
          </a:p>
        </p:txBody>
      </p:sp>
      <p:sp>
        <p:nvSpPr>
          <p:cNvPr id="607" name="t"/>
          <p:cNvSpPr txBox="1"/>
          <p:nvPr/>
        </p:nvSpPr>
        <p:spPr>
          <a:xfrm>
            <a:off x="6680200" y="19050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 b="1">
                <a:solidFill>
                  <a:srgbClr val="FFFFFF"/>
                </a:solidFill>
              </a:rPr>
              <a:t>공격력</a:t>
            </a:r>
          </a:p>
        </p:txBody>
      </p:sp>
      <p:sp>
        <p:nvSpPr>
          <p:cNvPr id="608" name="t"/>
          <p:cNvSpPr txBox="1"/>
          <p:nvPr/>
        </p:nvSpPr>
        <p:spPr>
          <a:xfrm>
            <a:off x="8204200" y="19050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 b="1">
                <a:solidFill>
                  <a:srgbClr val="FFFFFF"/>
                </a:solidFill>
              </a:rPr>
              <a:t>회피율</a:t>
            </a:r>
          </a:p>
        </p:txBody>
      </p:sp>
      <p:sp>
        <p:nvSpPr>
          <p:cNvPr id="609" name="t"/>
          <p:cNvSpPr txBox="1"/>
          <p:nvPr/>
        </p:nvSpPr>
        <p:spPr>
          <a:xfrm>
            <a:off x="9728200" y="1905000"/>
            <a:ext cx="16256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 b="1">
                <a:solidFill>
                  <a:srgbClr val="FFFFFF"/>
                </a:solidFill>
              </a:rPr>
              <a:t>보상</a:t>
            </a:r>
          </a:p>
        </p:txBody>
      </p:sp>
      <p:sp>
        <p:nvSpPr>
          <p:cNvPr id="610" name="r"/>
          <p:cNvSpPr/>
          <p:nvPr/>
        </p:nvSpPr>
        <p:spPr>
          <a:xfrm>
            <a:off x="838200" y="2324100"/>
            <a:ext cx="10515600" cy="4191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t"/>
          <p:cNvSpPr txBox="1"/>
          <p:nvPr/>
        </p:nvSpPr>
        <p:spPr>
          <a:xfrm>
            <a:off x="838200" y="23241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 b="1">
                <a:solidFill>
                  <a:srgbClr val="2563B0"/>
                </a:solidFill>
              </a:rPr>
              <a:t>Stage 1</a:t>
            </a:r>
          </a:p>
        </p:txBody>
      </p:sp>
      <p:sp>
        <p:nvSpPr>
          <p:cNvPr id="612" name="t"/>
          <p:cNvSpPr txBox="1"/>
          <p:nvPr/>
        </p:nvSpPr>
        <p:spPr>
          <a:xfrm>
            <a:off x="2514600" y="2324100"/>
            <a:ext cx="27686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sz="1400">
                <a:solidFill>
                  <a:srgbClr val="2E3A4F"/>
                </a:solidFill>
              </a:rPr>
              <a:t>네시</a:t>
            </a:r>
          </a:p>
        </p:txBody>
      </p:sp>
      <p:sp>
        <p:nvSpPr>
          <p:cNvPr id="613" name="t"/>
          <p:cNvSpPr txBox="1"/>
          <p:nvPr/>
        </p:nvSpPr>
        <p:spPr>
          <a:xfrm>
            <a:off x="5283200" y="2324100"/>
            <a:ext cx="1397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80</a:t>
            </a:r>
          </a:p>
        </p:txBody>
      </p:sp>
      <p:sp>
        <p:nvSpPr>
          <p:cNvPr id="614" name="t"/>
          <p:cNvSpPr txBox="1"/>
          <p:nvPr/>
        </p:nvSpPr>
        <p:spPr>
          <a:xfrm>
            <a:off x="6680200" y="23241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15</a:t>
            </a:r>
          </a:p>
        </p:txBody>
      </p:sp>
      <p:sp>
        <p:nvSpPr>
          <p:cNvPr id="615" name="t"/>
          <p:cNvSpPr txBox="1"/>
          <p:nvPr/>
        </p:nvSpPr>
        <p:spPr>
          <a:xfrm>
            <a:off x="8204200" y="23241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5%</a:t>
            </a:r>
          </a:p>
        </p:txBody>
      </p:sp>
      <p:sp>
        <p:nvSpPr>
          <p:cNvPr id="616" name="t"/>
          <p:cNvSpPr txBox="1"/>
          <p:nvPr/>
        </p:nvSpPr>
        <p:spPr>
          <a:xfrm>
            <a:off x="9728200" y="2324100"/>
            <a:ext cx="16256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200원</a:t>
            </a:r>
          </a:p>
        </p:txBody>
      </p:sp>
      <p:sp>
        <p:nvSpPr>
          <p:cNvPr id="617" name="r"/>
          <p:cNvSpPr/>
          <p:nvPr/>
        </p:nvSpPr>
        <p:spPr>
          <a:xfrm>
            <a:off x="838200" y="2743200"/>
            <a:ext cx="10515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8" name="t"/>
          <p:cNvSpPr txBox="1"/>
          <p:nvPr/>
        </p:nvSpPr>
        <p:spPr>
          <a:xfrm>
            <a:off x="838200" y="27432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 b="1">
                <a:solidFill>
                  <a:srgbClr val="2563B0"/>
                </a:solidFill>
              </a:rPr>
              <a:t>Stage 2</a:t>
            </a:r>
          </a:p>
        </p:txBody>
      </p:sp>
      <p:sp>
        <p:nvSpPr>
          <p:cNvPr id="619" name="t"/>
          <p:cNvSpPr txBox="1"/>
          <p:nvPr/>
        </p:nvSpPr>
        <p:spPr>
          <a:xfrm>
            <a:off x="2514600" y="2743200"/>
            <a:ext cx="27686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sz="1400">
                <a:solidFill>
                  <a:srgbClr val="2E3A4F"/>
                </a:solidFill>
              </a:rPr>
              <a:t>파라사우롤로푸스</a:t>
            </a:r>
          </a:p>
        </p:txBody>
      </p:sp>
      <p:sp>
        <p:nvSpPr>
          <p:cNvPr id="620" name="t"/>
          <p:cNvSpPr txBox="1"/>
          <p:nvPr/>
        </p:nvSpPr>
        <p:spPr>
          <a:xfrm>
            <a:off x="5283200" y="2743200"/>
            <a:ext cx="1397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180</a:t>
            </a:r>
          </a:p>
        </p:txBody>
      </p:sp>
      <p:sp>
        <p:nvSpPr>
          <p:cNvPr id="621" name="t"/>
          <p:cNvSpPr txBox="1"/>
          <p:nvPr/>
        </p:nvSpPr>
        <p:spPr>
          <a:xfrm>
            <a:off x="6680200" y="27432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28</a:t>
            </a:r>
          </a:p>
        </p:txBody>
      </p:sp>
      <p:sp>
        <p:nvSpPr>
          <p:cNvPr id="622" name="t"/>
          <p:cNvSpPr txBox="1"/>
          <p:nvPr/>
        </p:nvSpPr>
        <p:spPr>
          <a:xfrm>
            <a:off x="8204200" y="27432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10%</a:t>
            </a:r>
          </a:p>
        </p:txBody>
      </p:sp>
      <p:sp>
        <p:nvSpPr>
          <p:cNvPr id="623" name="t"/>
          <p:cNvSpPr txBox="1"/>
          <p:nvPr/>
        </p:nvSpPr>
        <p:spPr>
          <a:xfrm>
            <a:off x="9728200" y="2743200"/>
            <a:ext cx="16256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400원</a:t>
            </a:r>
          </a:p>
        </p:txBody>
      </p:sp>
      <p:sp>
        <p:nvSpPr>
          <p:cNvPr id="624" name="r"/>
          <p:cNvSpPr/>
          <p:nvPr/>
        </p:nvSpPr>
        <p:spPr>
          <a:xfrm>
            <a:off x="838200" y="3162300"/>
            <a:ext cx="10515600" cy="4191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5" name="t"/>
          <p:cNvSpPr txBox="1"/>
          <p:nvPr/>
        </p:nvSpPr>
        <p:spPr>
          <a:xfrm>
            <a:off x="838200" y="31623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 b="1">
                <a:solidFill>
                  <a:srgbClr val="2563B0"/>
                </a:solidFill>
              </a:rPr>
              <a:t>Stage 3</a:t>
            </a:r>
          </a:p>
        </p:txBody>
      </p:sp>
      <p:sp>
        <p:nvSpPr>
          <p:cNvPr id="626" name="t"/>
          <p:cNvSpPr txBox="1"/>
          <p:nvPr/>
        </p:nvSpPr>
        <p:spPr>
          <a:xfrm>
            <a:off x="2514600" y="3162300"/>
            <a:ext cx="27686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sz="1400">
                <a:solidFill>
                  <a:srgbClr val="2E3A4F"/>
                </a:solidFill>
              </a:rPr>
              <a:t>트리케라톱스</a:t>
            </a:r>
          </a:p>
        </p:txBody>
      </p:sp>
      <p:sp>
        <p:nvSpPr>
          <p:cNvPr id="627" name="t"/>
          <p:cNvSpPr txBox="1"/>
          <p:nvPr/>
        </p:nvSpPr>
        <p:spPr>
          <a:xfrm>
            <a:off x="5283200" y="3162300"/>
            <a:ext cx="1397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300</a:t>
            </a:r>
          </a:p>
        </p:txBody>
      </p:sp>
      <p:sp>
        <p:nvSpPr>
          <p:cNvPr id="628" name="t"/>
          <p:cNvSpPr txBox="1"/>
          <p:nvPr/>
        </p:nvSpPr>
        <p:spPr>
          <a:xfrm>
            <a:off x="6680200" y="31623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45</a:t>
            </a:r>
          </a:p>
        </p:txBody>
      </p:sp>
      <p:sp>
        <p:nvSpPr>
          <p:cNvPr id="629" name="t"/>
          <p:cNvSpPr txBox="1"/>
          <p:nvPr/>
        </p:nvSpPr>
        <p:spPr>
          <a:xfrm>
            <a:off x="8204200" y="31623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15%</a:t>
            </a:r>
          </a:p>
        </p:txBody>
      </p:sp>
      <p:sp>
        <p:nvSpPr>
          <p:cNvPr id="630" name="t"/>
          <p:cNvSpPr txBox="1"/>
          <p:nvPr/>
        </p:nvSpPr>
        <p:spPr>
          <a:xfrm>
            <a:off x="9728200" y="3162300"/>
            <a:ext cx="16256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600원</a:t>
            </a:r>
          </a:p>
        </p:txBody>
      </p:sp>
      <p:sp>
        <p:nvSpPr>
          <p:cNvPr id="631" name="r"/>
          <p:cNvSpPr/>
          <p:nvPr/>
        </p:nvSpPr>
        <p:spPr>
          <a:xfrm>
            <a:off x="838200" y="3581400"/>
            <a:ext cx="10515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t"/>
          <p:cNvSpPr txBox="1"/>
          <p:nvPr/>
        </p:nvSpPr>
        <p:spPr>
          <a:xfrm>
            <a:off x="838200" y="35814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 b="1">
                <a:solidFill>
                  <a:srgbClr val="2563B0"/>
                </a:solidFill>
              </a:rPr>
              <a:t>Stage 4</a:t>
            </a:r>
          </a:p>
        </p:txBody>
      </p:sp>
      <p:sp>
        <p:nvSpPr>
          <p:cNvPr id="633" name="t"/>
          <p:cNvSpPr txBox="1"/>
          <p:nvPr/>
        </p:nvSpPr>
        <p:spPr>
          <a:xfrm>
            <a:off x="2514600" y="3581400"/>
            <a:ext cx="27686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sz="1400">
                <a:solidFill>
                  <a:srgbClr val="2E3A4F"/>
                </a:solidFill>
              </a:rPr>
              <a:t>프테라노돈</a:t>
            </a:r>
          </a:p>
        </p:txBody>
      </p:sp>
      <p:sp>
        <p:nvSpPr>
          <p:cNvPr id="634" name="t"/>
          <p:cNvSpPr txBox="1"/>
          <p:nvPr/>
        </p:nvSpPr>
        <p:spPr>
          <a:xfrm>
            <a:off x="5283200" y="3581400"/>
            <a:ext cx="1397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450</a:t>
            </a:r>
          </a:p>
        </p:txBody>
      </p:sp>
      <p:sp>
        <p:nvSpPr>
          <p:cNvPr id="635" name="t"/>
          <p:cNvSpPr txBox="1"/>
          <p:nvPr/>
        </p:nvSpPr>
        <p:spPr>
          <a:xfrm>
            <a:off x="6680200" y="35814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65</a:t>
            </a:r>
          </a:p>
        </p:txBody>
      </p:sp>
      <p:sp>
        <p:nvSpPr>
          <p:cNvPr id="636" name="t"/>
          <p:cNvSpPr txBox="1"/>
          <p:nvPr/>
        </p:nvSpPr>
        <p:spPr>
          <a:xfrm>
            <a:off x="8204200" y="35814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20%</a:t>
            </a:r>
          </a:p>
        </p:txBody>
      </p:sp>
      <p:sp>
        <p:nvSpPr>
          <p:cNvPr id="637" name="t"/>
          <p:cNvSpPr txBox="1"/>
          <p:nvPr/>
        </p:nvSpPr>
        <p:spPr>
          <a:xfrm>
            <a:off x="9728200" y="3581400"/>
            <a:ext cx="16256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800원</a:t>
            </a:r>
          </a:p>
        </p:txBody>
      </p:sp>
      <p:sp>
        <p:nvSpPr>
          <p:cNvPr id="638" name="r"/>
          <p:cNvSpPr/>
          <p:nvPr/>
        </p:nvSpPr>
        <p:spPr>
          <a:xfrm>
            <a:off x="838200" y="4000500"/>
            <a:ext cx="10515600" cy="419100"/>
          </a:xfrm>
          <a:prstGeom prst="rect">
            <a:avLst/>
          </a:prstGeom>
          <a:solidFill>
            <a:srgbClr val="FBF1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t"/>
          <p:cNvSpPr txBox="1"/>
          <p:nvPr/>
        </p:nvSpPr>
        <p:spPr>
          <a:xfrm>
            <a:off x="838200" y="40005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 b="1">
                <a:solidFill>
                  <a:srgbClr val="2563B0"/>
                </a:solidFill>
              </a:rPr>
              <a:t>Stage 5</a:t>
            </a:r>
          </a:p>
        </p:txBody>
      </p:sp>
      <p:sp>
        <p:nvSpPr>
          <p:cNvPr id="640" name="t"/>
          <p:cNvSpPr txBox="1"/>
          <p:nvPr/>
        </p:nvSpPr>
        <p:spPr>
          <a:xfrm>
            <a:off x="2514600" y="4000500"/>
            <a:ext cx="27686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sz="1400" b="1">
                <a:solidFill>
                  <a:srgbClr val="9A7A12"/>
                </a:solidFill>
              </a:rPr>
              <a:t>티라노사우루스</a:t>
            </a:r>
          </a:p>
        </p:txBody>
      </p:sp>
      <p:sp>
        <p:nvSpPr>
          <p:cNvPr id="641" name="t"/>
          <p:cNvSpPr txBox="1"/>
          <p:nvPr/>
        </p:nvSpPr>
        <p:spPr>
          <a:xfrm>
            <a:off x="5283200" y="4000500"/>
            <a:ext cx="1397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650</a:t>
            </a:r>
          </a:p>
        </p:txBody>
      </p:sp>
      <p:sp>
        <p:nvSpPr>
          <p:cNvPr id="642" name="t"/>
          <p:cNvSpPr txBox="1"/>
          <p:nvPr/>
        </p:nvSpPr>
        <p:spPr>
          <a:xfrm>
            <a:off x="6680200" y="40005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90</a:t>
            </a:r>
          </a:p>
        </p:txBody>
      </p:sp>
      <p:sp>
        <p:nvSpPr>
          <p:cNvPr id="643" name="t"/>
          <p:cNvSpPr txBox="1"/>
          <p:nvPr/>
        </p:nvSpPr>
        <p:spPr>
          <a:xfrm>
            <a:off x="8204200" y="4000500"/>
            <a:ext cx="15240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25%</a:t>
            </a:r>
          </a:p>
        </p:txBody>
      </p:sp>
      <p:sp>
        <p:nvSpPr>
          <p:cNvPr id="644" name="t"/>
          <p:cNvSpPr txBox="1"/>
          <p:nvPr/>
        </p:nvSpPr>
        <p:spPr>
          <a:xfrm>
            <a:off x="9728200" y="4000500"/>
            <a:ext cx="1625600" cy="4191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400">
                <a:solidFill>
                  <a:srgbClr val="2E3A4F"/>
                </a:solidFill>
              </a:rPr>
              <a:t>1,000원</a:t>
            </a:r>
          </a:p>
        </p:txBody>
      </p:sp>
      <p:sp>
        <p:nvSpPr>
          <p:cNvPr id="645" name="r"/>
          <p:cNvSpPr/>
          <p:nvPr/>
        </p:nvSpPr>
        <p:spPr>
          <a:xfrm>
            <a:off x="838200" y="4419600"/>
            <a:ext cx="10515600" cy="127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r"/>
          <p:cNvSpPr/>
          <p:nvPr/>
        </p:nvSpPr>
        <p:spPr>
          <a:xfrm>
            <a:off x="838200" y="4648200"/>
            <a:ext cx="6451600" cy="13208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t"/>
          <p:cNvSpPr txBox="1"/>
          <p:nvPr/>
        </p:nvSpPr>
        <p:spPr>
          <a:xfrm>
            <a:off x="1041400" y="4800600"/>
            <a:ext cx="60452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ko-KR" sz="1500" b="1">
                <a:solidFill>
                  <a:srgbClr val="1B2A4A"/>
                </a:solidFill>
              </a:rPr>
              <a:t>전투 턴 흐름</a:t>
            </a:r>
          </a:p>
        </p:txBody>
      </p:sp>
      <p:sp>
        <p:nvSpPr>
          <p:cNvPr id="648" name="t"/>
          <p:cNvSpPr txBox="1"/>
          <p:nvPr/>
        </p:nvSpPr>
        <p:spPr>
          <a:xfrm>
            <a:off x="1041400" y="5075520"/>
            <a:ext cx="604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ko-KR" sz="1200" dirty="0">
                <a:solidFill>
                  <a:srgbClr val="5B6B82"/>
                </a:solidFill>
              </a:rPr>
              <a:t>아이템 선택(선택) → 가위바위보 (</a:t>
            </a:r>
            <a:r>
              <a:rPr lang="ko-KR" sz="1200" dirty="0" err="1">
                <a:solidFill>
                  <a:srgbClr val="5B6B82"/>
                </a:solidFill>
              </a:rPr>
              <a:t>rand</a:t>
            </a:r>
            <a:r>
              <a:rPr lang="ko-KR" sz="1200" dirty="0">
                <a:solidFill>
                  <a:srgbClr val="5B6B82"/>
                </a:solidFill>
              </a:rPr>
              <a:t>()%3) → 결과 판정</a:t>
            </a:r>
          </a:p>
        </p:txBody>
      </p:sp>
      <p:sp>
        <p:nvSpPr>
          <p:cNvPr id="649" name="r"/>
          <p:cNvSpPr/>
          <p:nvPr/>
        </p:nvSpPr>
        <p:spPr>
          <a:xfrm>
            <a:off x="1041400" y="5384604"/>
            <a:ext cx="101600" cy="101600"/>
          </a:xfrm>
          <a:prstGeom prst="ellipse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0" name="t"/>
          <p:cNvSpPr txBox="1"/>
          <p:nvPr/>
        </p:nvSpPr>
        <p:spPr>
          <a:xfrm>
            <a:off x="1244600" y="5340577"/>
            <a:ext cx="5842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ko-KR" sz="1050" b="1" dirty="0">
                <a:solidFill>
                  <a:srgbClr val="3E8E7E"/>
                </a:solidFill>
              </a:rPr>
              <a:t>승리  </a:t>
            </a:r>
            <a:r>
              <a:rPr lang="ko-KR" sz="1050" dirty="0">
                <a:solidFill>
                  <a:srgbClr val="2E3A4F"/>
                </a:solidFill>
              </a:rPr>
              <a:t>적에게 데미지 (+ 몬스터 회피 판정)</a:t>
            </a:r>
          </a:p>
        </p:txBody>
      </p:sp>
      <p:sp>
        <p:nvSpPr>
          <p:cNvPr id="651" name="r"/>
          <p:cNvSpPr/>
          <p:nvPr/>
        </p:nvSpPr>
        <p:spPr>
          <a:xfrm>
            <a:off x="1041400" y="5575104"/>
            <a:ext cx="101600" cy="101600"/>
          </a:xfrm>
          <a:prstGeom prst="ellipse">
            <a:avLst/>
          </a:prstGeom>
          <a:solidFill>
            <a:srgbClr val="8C97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2" name="t"/>
          <p:cNvSpPr txBox="1"/>
          <p:nvPr/>
        </p:nvSpPr>
        <p:spPr>
          <a:xfrm>
            <a:off x="1244600" y="5531077"/>
            <a:ext cx="5842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ko-KR" sz="1050" b="1">
                <a:solidFill>
                  <a:srgbClr val="8C97A8"/>
                </a:solidFill>
              </a:rPr>
              <a:t>무승부  </a:t>
            </a:r>
            <a:r>
              <a:rPr lang="ko-KR" sz="1050">
                <a:solidFill>
                  <a:srgbClr val="2E3A4F"/>
                </a:solidFill>
              </a:rPr>
              <a:t>데미지 없음</a:t>
            </a:r>
          </a:p>
        </p:txBody>
      </p:sp>
      <p:sp>
        <p:nvSpPr>
          <p:cNvPr id="653" name="r"/>
          <p:cNvSpPr/>
          <p:nvPr/>
        </p:nvSpPr>
        <p:spPr>
          <a:xfrm>
            <a:off x="1041400" y="5765604"/>
            <a:ext cx="101600" cy="101600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4" name="t"/>
          <p:cNvSpPr txBox="1"/>
          <p:nvPr/>
        </p:nvSpPr>
        <p:spPr>
          <a:xfrm>
            <a:off x="1244600" y="5721577"/>
            <a:ext cx="5842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buNone/>
            </a:pPr>
            <a:r>
              <a:rPr lang="ko-KR" sz="1050" b="1" dirty="0">
                <a:solidFill>
                  <a:srgbClr val="C0504D"/>
                </a:solidFill>
              </a:rPr>
              <a:t>패배  </a:t>
            </a:r>
            <a:r>
              <a:rPr lang="ko-KR" sz="1050" dirty="0">
                <a:solidFill>
                  <a:srgbClr val="2E3A4F"/>
                </a:solidFill>
              </a:rPr>
              <a:t>피격 — 민첩 회피 + 갑옷 방어 적용</a:t>
            </a:r>
          </a:p>
        </p:txBody>
      </p:sp>
      <p:sp>
        <p:nvSpPr>
          <p:cNvPr id="655" name="r"/>
          <p:cNvSpPr/>
          <p:nvPr/>
        </p:nvSpPr>
        <p:spPr>
          <a:xfrm>
            <a:off x="7493000" y="4648200"/>
            <a:ext cx="3860800" cy="13208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6" name="t"/>
          <p:cNvSpPr txBox="1"/>
          <p:nvPr/>
        </p:nvSpPr>
        <p:spPr>
          <a:xfrm>
            <a:off x="7696200" y="4800600"/>
            <a:ext cx="34544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ko-KR" sz="1500" b="1">
                <a:solidFill>
                  <a:srgbClr val="C9A227"/>
                </a:solidFill>
              </a:rPr>
              <a:t>스테이지 해금 &amp; 보상</a:t>
            </a:r>
          </a:p>
          <a:p>
            <a:pPr>
              <a:lnSpc>
                <a:spcPts val="1500"/>
              </a:lnSpc>
              <a:spcBef>
                <a:spcPts val="400"/>
              </a:spcBef>
              <a:buNone/>
            </a:pPr>
            <a:r>
              <a:rPr lang="ko-KR" sz="1250">
                <a:solidFill>
                  <a:srgbClr val="FFFFFF"/>
                </a:solidFill>
              </a:rPr>
              <a:t>이전 스테이지 클리어 시 다음 스테이지 해금</a:t>
            </a:r>
          </a:p>
          <a:p>
            <a:pPr>
              <a:lnSpc>
                <a:spcPts val="1500"/>
              </a:lnSpc>
              <a:spcBef>
                <a:spcPts val="200"/>
              </a:spcBef>
              <a:buNone/>
            </a:pPr>
            <a:r>
              <a:rPr lang="ko-KR" sz="1250">
                <a:solidFill>
                  <a:srgbClr val="FFFFFF"/>
                </a:solidFill>
              </a:rPr>
              <a:t>보상금 = 스테이지 × 200원</a:t>
            </a:r>
          </a:p>
          <a:p>
            <a:pPr>
              <a:lnSpc>
                <a:spcPts val="1500"/>
              </a:lnSpc>
              <a:spcBef>
                <a:spcPts val="200"/>
              </a:spcBef>
              <a:buNone/>
            </a:pPr>
            <a:r>
              <a:rPr lang="ko-KR" sz="1250" b="1">
                <a:solidFill>
                  <a:srgbClr val="8FB8E0"/>
                </a:solidFill>
              </a:rPr>
              <a:t>5스테이지 클리어 → 용사(HERO) 엔딩</a:t>
            </a:r>
          </a:p>
        </p:txBody>
      </p:sp>
    </p:spTree>
    <p:extLst>
      <p:ext uri="{BB962C8B-B14F-4D97-AF65-F5344CB8AC3E}">
        <p14:creationId xmlns:p14="http://schemas.microsoft.com/office/powerpoint/2010/main" val="4008632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56A32-A65B-A5BD-6EAA-4B6015B5B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8128000" cy="711200"/>
          </a:xfrm>
        </p:spPr>
        <p:txBody>
          <a:bodyPr wrap="square">
            <a:noAutofit/>
          </a:bodyPr>
          <a:lstStyle/>
          <a:p>
            <a:pPr algn="l"/>
            <a:r>
              <a:rPr lang="ko-KR" sz="3000" b="1">
                <a:solidFill>
                  <a:srgbClr val="1B2A4A"/>
                </a:solidFill>
              </a:rPr>
              <a:t>장비 &amp; 아이템 시스템</a:t>
            </a:r>
          </a:p>
        </p:txBody>
      </p:sp>
      <p:sp>
        <p:nvSpPr>
          <p:cNvPr id="601" name="r601"/>
          <p:cNvSpPr/>
          <p:nvPr/>
        </p:nvSpPr>
        <p:spPr>
          <a:xfrm>
            <a:off x="9194800" y="584200"/>
            <a:ext cx="2159000" cy="381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t602"/>
          <p:cNvSpPr txBox="1"/>
          <p:nvPr/>
        </p:nvSpPr>
        <p:spPr>
          <a:xfrm>
            <a:off x="9194800" y="584200"/>
            <a:ext cx="2159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00" b="1">
                <a:solidFill>
                  <a:srgbClr val="FFFFFF"/>
                </a:solidFill>
              </a:rPr>
              <a:t>담당 · 김태현</a:t>
            </a:r>
          </a:p>
        </p:txBody>
      </p:sp>
      <p:sp>
        <p:nvSpPr>
          <p:cNvPr id="603" name="t603"/>
          <p:cNvSpPr txBox="1"/>
          <p:nvPr/>
        </p:nvSpPr>
        <p:spPr>
          <a:xfrm>
            <a:off x="838200" y="1549400"/>
            <a:ext cx="9652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500" b="1">
                <a:solidFill>
                  <a:srgbClr val="2563B0"/>
                </a:solidFill>
              </a:rPr>
              <a:t>강화 티어 — 검 · 갑옷 (비용·성공률 공유)</a:t>
            </a:r>
          </a:p>
        </p:txBody>
      </p:sp>
      <p:sp>
        <p:nvSpPr>
          <p:cNvPr id="604" name="r604"/>
          <p:cNvSpPr/>
          <p:nvPr/>
        </p:nvSpPr>
        <p:spPr>
          <a:xfrm>
            <a:off x="838200" y="1905000"/>
            <a:ext cx="10515600" cy="355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t605"/>
          <p:cNvSpPr txBox="1"/>
          <p:nvPr/>
        </p:nvSpPr>
        <p:spPr>
          <a:xfrm>
            <a:off x="838200" y="1905000"/>
            <a:ext cx="889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 b="1">
                <a:solidFill>
                  <a:srgbClr val="FFFFFF"/>
                </a:solidFill>
              </a:rPr>
              <a:t>티어</a:t>
            </a:r>
          </a:p>
        </p:txBody>
      </p:sp>
      <p:sp>
        <p:nvSpPr>
          <p:cNvPr id="606" name="t606"/>
          <p:cNvSpPr txBox="1"/>
          <p:nvPr/>
        </p:nvSpPr>
        <p:spPr>
          <a:xfrm>
            <a:off x="1879600" y="19050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350" b="1">
                <a:solidFill>
                  <a:srgbClr val="FFFFFF"/>
                </a:solidFill>
              </a:rPr>
              <a:t>검 · 공격</a:t>
            </a:r>
          </a:p>
        </p:txBody>
      </p:sp>
      <p:sp>
        <p:nvSpPr>
          <p:cNvPr id="607" name="t607"/>
          <p:cNvSpPr txBox="1"/>
          <p:nvPr/>
        </p:nvSpPr>
        <p:spPr>
          <a:xfrm>
            <a:off x="5054600" y="19050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350" b="1">
                <a:solidFill>
                  <a:srgbClr val="FFFFFF"/>
                </a:solidFill>
              </a:rPr>
              <a:t>갑옷 · 방어</a:t>
            </a:r>
          </a:p>
        </p:txBody>
      </p:sp>
      <p:sp>
        <p:nvSpPr>
          <p:cNvPr id="608" name="t608"/>
          <p:cNvSpPr txBox="1"/>
          <p:nvPr/>
        </p:nvSpPr>
        <p:spPr>
          <a:xfrm>
            <a:off x="8077200" y="19050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 b="1">
                <a:solidFill>
                  <a:srgbClr val="FFFFFF"/>
                </a:solidFill>
              </a:rPr>
              <a:t>비용</a:t>
            </a:r>
          </a:p>
        </p:txBody>
      </p:sp>
      <p:sp>
        <p:nvSpPr>
          <p:cNvPr id="609" name="t609"/>
          <p:cNvSpPr txBox="1"/>
          <p:nvPr/>
        </p:nvSpPr>
        <p:spPr>
          <a:xfrm>
            <a:off x="9728200" y="1905000"/>
            <a:ext cx="162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 b="1">
                <a:solidFill>
                  <a:srgbClr val="FFFFFF"/>
                </a:solidFill>
              </a:rPr>
              <a:t>성공률</a:t>
            </a:r>
          </a:p>
        </p:txBody>
      </p:sp>
      <p:sp>
        <p:nvSpPr>
          <p:cNvPr id="610" name="t610"/>
          <p:cNvSpPr txBox="1"/>
          <p:nvPr/>
        </p:nvSpPr>
        <p:spPr>
          <a:xfrm>
            <a:off x="838200" y="2260600"/>
            <a:ext cx="889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 b="1">
                <a:solidFill>
                  <a:srgbClr val="2563B0"/>
                </a:solidFill>
              </a:rPr>
              <a:t>T0</a:t>
            </a:r>
          </a:p>
        </p:txBody>
      </p:sp>
      <p:sp>
        <p:nvSpPr>
          <p:cNvPr id="611" name="t611"/>
          <p:cNvSpPr txBox="1"/>
          <p:nvPr/>
        </p:nvSpPr>
        <p:spPr>
          <a:xfrm>
            <a:off x="1879600" y="22606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350">
                <a:solidFill>
                  <a:srgbClr val="2E3A4F"/>
                </a:solidFill>
              </a:rPr>
              <a:t>나뭇가지  +0</a:t>
            </a:r>
          </a:p>
        </p:txBody>
      </p:sp>
      <p:sp>
        <p:nvSpPr>
          <p:cNvPr id="612" name="t612"/>
          <p:cNvSpPr txBox="1"/>
          <p:nvPr/>
        </p:nvSpPr>
        <p:spPr>
          <a:xfrm>
            <a:off x="5054600" y="22606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350">
                <a:solidFill>
                  <a:srgbClr val="2E3A4F"/>
                </a:solidFill>
              </a:rPr>
              <a:t>허름한 갑옷  0</a:t>
            </a:r>
          </a:p>
        </p:txBody>
      </p:sp>
      <p:sp>
        <p:nvSpPr>
          <p:cNvPr id="613" name="t613"/>
          <p:cNvSpPr txBox="1"/>
          <p:nvPr/>
        </p:nvSpPr>
        <p:spPr>
          <a:xfrm>
            <a:off x="8077200" y="22606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>
                <a:solidFill>
                  <a:srgbClr val="2E3A4F"/>
                </a:solidFill>
              </a:rPr>
              <a:t>200원</a:t>
            </a:r>
          </a:p>
        </p:txBody>
      </p:sp>
      <p:sp>
        <p:nvSpPr>
          <p:cNvPr id="614" name="t614"/>
          <p:cNvSpPr txBox="1"/>
          <p:nvPr/>
        </p:nvSpPr>
        <p:spPr>
          <a:xfrm>
            <a:off x="9728200" y="2260600"/>
            <a:ext cx="162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>
                <a:solidFill>
                  <a:srgbClr val="C0504D"/>
                </a:solidFill>
              </a:rPr>
              <a:t>70%</a:t>
            </a:r>
          </a:p>
        </p:txBody>
      </p:sp>
      <p:sp>
        <p:nvSpPr>
          <p:cNvPr id="615" name="r615"/>
          <p:cNvSpPr/>
          <p:nvPr/>
        </p:nvSpPr>
        <p:spPr>
          <a:xfrm>
            <a:off x="838200" y="2616200"/>
            <a:ext cx="10515600" cy="355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t616"/>
          <p:cNvSpPr txBox="1"/>
          <p:nvPr/>
        </p:nvSpPr>
        <p:spPr>
          <a:xfrm>
            <a:off x="838200" y="2616200"/>
            <a:ext cx="889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 b="1">
                <a:solidFill>
                  <a:srgbClr val="2563B0"/>
                </a:solidFill>
              </a:rPr>
              <a:t>T1</a:t>
            </a:r>
          </a:p>
        </p:txBody>
      </p:sp>
      <p:sp>
        <p:nvSpPr>
          <p:cNvPr id="617" name="t617"/>
          <p:cNvSpPr txBox="1"/>
          <p:nvPr/>
        </p:nvSpPr>
        <p:spPr>
          <a:xfrm>
            <a:off x="1879600" y="26162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350">
                <a:solidFill>
                  <a:srgbClr val="2E3A4F"/>
                </a:solidFill>
              </a:rPr>
              <a:t>나무 검  +10</a:t>
            </a:r>
          </a:p>
        </p:txBody>
      </p:sp>
      <p:sp>
        <p:nvSpPr>
          <p:cNvPr id="618" name="t618"/>
          <p:cNvSpPr txBox="1"/>
          <p:nvPr/>
        </p:nvSpPr>
        <p:spPr>
          <a:xfrm>
            <a:off x="5054600" y="26162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350">
                <a:solidFill>
                  <a:srgbClr val="2E3A4F"/>
                </a:solidFill>
              </a:rPr>
              <a:t>평범한 갑옷  −5</a:t>
            </a:r>
          </a:p>
        </p:txBody>
      </p:sp>
      <p:sp>
        <p:nvSpPr>
          <p:cNvPr id="619" name="t619"/>
          <p:cNvSpPr txBox="1"/>
          <p:nvPr/>
        </p:nvSpPr>
        <p:spPr>
          <a:xfrm>
            <a:off x="8077200" y="26162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>
                <a:solidFill>
                  <a:srgbClr val="2E3A4F"/>
                </a:solidFill>
              </a:rPr>
              <a:t>350원</a:t>
            </a:r>
          </a:p>
        </p:txBody>
      </p:sp>
      <p:sp>
        <p:nvSpPr>
          <p:cNvPr id="620" name="t620"/>
          <p:cNvSpPr txBox="1"/>
          <p:nvPr/>
        </p:nvSpPr>
        <p:spPr>
          <a:xfrm>
            <a:off x="9728200" y="2616200"/>
            <a:ext cx="162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>
                <a:solidFill>
                  <a:srgbClr val="C0504D"/>
                </a:solidFill>
              </a:rPr>
              <a:t>50%</a:t>
            </a:r>
          </a:p>
        </p:txBody>
      </p:sp>
      <p:sp>
        <p:nvSpPr>
          <p:cNvPr id="621" name="t621"/>
          <p:cNvSpPr txBox="1"/>
          <p:nvPr/>
        </p:nvSpPr>
        <p:spPr>
          <a:xfrm>
            <a:off x="838200" y="2971800"/>
            <a:ext cx="889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 b="1">
                <a:solidFill>
                  <a:srgbClr val="2563B0"/>
                </a:solidFill>
              </a:rPr>
              <a:t>T2</a:t>
            </a:r>
          </a:p>
        </p:txBody>
      </p:sp>
      <p:sp>
        <p:nvSpPr>
          <p:cNvPr id="622" name="t622"/>
          <p:cNvSpPr txBox="1"/>
          <p:nvPr/>
        </p:nvSpPr>
        <p:spPr>
          <a:xfrm>
            <a:off x="1879600" y="29718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350">
                <a:solidFill>
                  <a:srgbClr val="2E3A4F"/>
                </a:solidFill>
              </a:rPr>
              <a:t>단단한 검  +22</a:t>
            </a:r>
          </a:p>
        </p:txBody>
      </p:sp>
      <p:sp>
        <p:nvSpPr>
          <p:cNvPr id="623" name="t623"/>
          <p:cNvSpPr txBox="1"/>
          <p:nvPr/>
        </p:nvSpPr>
        <p:spPr>
          <a:xfrm>
            <a:off x="5054600" y="29718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350">
                <a:solidFill>
                  <a:srgbClr val="2E3A4F"/>
                </a:solidFill>
              </a:rPr>
              <a:t>단단한 갑옷  −12</a:t>
            </a:r>
          </a:p>
        </p:txBody>
      </p:sp>
      <p:sp>
        <p:nvSpPr>
          <p:cNvPr id="624" name="t624"/>
          <p:cNvSpPr txBox="1"/>
          <p:nvPr/>
        </p:nvSpPr>
        <p:spPr>
          <a:xfrm>
            <a:off x="8077200" y="29718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>
                <a:solidFill>
                  <a:srgbClr val="2E3A4F"/>
                </a:solidFill>
              </a:rPr>
              <a:t>500원</a:t>
            </a:r>
          </a:p>
        </p:txBody>
      </p:sp>
      <p:sp>
        <p:nvSpPr>
          <p:cNvPr id="625" name="t625"/>
          <p:cNvSpPr txBox="1"/>
          <p:nvPr/>
        </p:nvSpPr>
        <p:spPr>
          <a:xfrm>
            <a:off x="9728200" y="2971800"/>
            <a:ext cx="162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>
                <a:solidFill>
                  <a:srgbClr val="C0504D"/>
                </a:solidFill>
              </a:rPr>
              <a:t>30%</a:t>
            </a:r>
          </a:p>
        </p:txBody>
      </p:sp>
      <p:sp>
        <p:nvSpPr>
          <p:cNvPr id="626" name="r626"/>
          <p:cNvSpPr/>
          <p:nvPr/>
        </p:nvSpPr>
        <p:spPr>
          <a:xfrm>
            <a:off x="838200" y="3327400"/>
            <a:ext cx="10515600" cy="355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7" name="t627"/>
          <p:cNvSpPr txBox="1"/>
          <p:nvPr/>
        </p:nvSpPr>
        <p:spPr>
          <a:xfrm>
            <a:off x="838200" y="3327400"/>
            <a:ext cx="889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 b="1">
                <a:solidFill>
                  <a:srgbClr val="2563B0"/>
                </a:solidFill>
              </a:rPr>
              <a:t>T3</a:t>
            </a:r>
          </a:p>
        </p:txBody>
      </p:sp>
      <p:sp>
        <p:nvSpPr>
          <p:cNvPr id="628" name="t628"/>
          <p:cNvSpPr txBox="1"/>
          <p:nvPr/>
        </p:nvSpPr>
        <p:spPr>
          <a:xfrm>
            <a:off x="1879600" y="33274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350">
                <a:solidFill>
                  <a:srgbClr val="2E3A4F"/>
                </a:solidFill>
              </a:rPr>
              <a:t>기사의 검  +38</a:t>
            </a:r>
          </a:p>
        </p:txBody>
      </p:sp>
      <p:sp>
        <p:nvSpPr>
          <p:cNvPr id="629" name="t629"/>
          <p:cNvSpPr txBox="1"/>
          <p:nvPr/>
        </p:nvSpPr>
        <p:spPr>
          <a:xfrm>
            <a:off x="5054600" y="33274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350">
                <a:solidFill>
                  <a:srgbClr val="2E3A4F"/>
                </a:solidFill>
              </a:rPr>
              <a:t>기사의 갑옷  −22</a:t>
            </a:r>
          </a:p>
        </p:txBody>
      </p:sp>
      <p:sp>
        <p:nvSpPr>
          <p:cNvPr id="630" name="t630"/>
          <p:cNvSpPr txBox="1"/>
          <p:nvPr/>
        </p:nvSpPr>
        <p:spPr>
          <a:xfrm>
            <a:off x="8077200" y="33274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>
                <a:solidFill>
                  <a:srgbClr val="2E3A4F"/>
                </a:solidFill>
              </a:rPr>
              <a:t>700원</a:t>
            </a:r>
          </a:p>
        </p:txBody>
      </p:sp>
      <p:sp>
        <p:nvSpPr>
          <p:cNvPr id="631" name="t631"/>
          <p:cNvSpPr txBox="1"/>
          <p:nvPr/>
        </p:nvSpPr>
        <p:spPr>
          <a:xfrm>
            <a:off x="9728200" y="3327400"/>
            <a:ext cx="162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>
                <a:solidFill>
                  <a:srgbClr val="C0504D"/>
                </a:solidFill>
              </a:rPr>
              <a:t>15%</a:t>
            </a:r>
          </a:p>
        </p:txBody>
      </p:sp>
      <p:sp>
        <p:nvSpPr>
          <p:cNvPr id="632" name="r632"/>
          <p:cNvSpPr/>
          <p:nvPr/>
        </p:nvSpPr>
        <p:spPr>
          <a:xfrm>
            <a:off x="838200" y="3683000"/>
            <a:ext cx="10515600" cy="355600"/>
          </a:xfrm>
          <a:prstGeom prst="rect">
            <a:avLst/>
          </a:prstGeom>
          <a:solidFill>
            <a:srgbClr val="FBF1D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t633"/>
          <p:cNvSpPr txBox="1"/>
          <p:nvPr/>
        </p:nvSpPr>
        <p:spPr>
          <a:xfrm>
            <a:off x="838200" y="3683000"/>
            <a:ext cx="889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 b="1">
                <a:solidFill>
                  <a:srgbClr val="2563B0"/>
                </a:solidFill>
              </a:rPr>
              <a:t>T4</a:t>
            </a:r>
          </a:p>
        </p:txBody>
      </p:sp>
      <p:sp>
        <p:nvSpPr>
          <p:cNvPr id="634" name="t634"/>
          <p:cNvSpPr txBox="1"/>
          <p:nvPr/>
        </p:nvSpPr>
        <p:spPr>
          <a:xfrm>
            <a:off x="1879600" y="36830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350">
                <a:solidFill>
                  <a:srgbClr val="2E3A4F"/>
                </a:solidFill>
              </a:rPr>
              <a:t>용사의 검  +55</a:t>
            </a:r>
          </a:p>
        </p:txBody>
      </p:sp>
      <p:sp>
        <p:nvSpPr>
          <p:cNvPr id="635" name="t635"/>
          <p:cNvSpPr txBox="1"/>
          <p:nvPr/>
        </p:nvSpPr>
        <p:spPr>
          <a:xfrm>
            <a:off x="5054600" y="3683000"/>
            <a:ext cx="29718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ko-KR" sz="1350">
                <a:solidFill>
                  <a:srgbClr val="2E3A4F"/>
                </a:solidFill>
              </a:rPr>
              <a:t>용사의 갑옷  −35</a:t>
            </a:r>
          </a:p>
        </p:txBody>
      </p:sp>
      <p:sp>
        <p:nvSpPr>
          <p:cNvPr id="636" name="t636"/>
          <p:cNvSpPr txBox="1"/>
          <p:nvPr/>
        </p:nvSpPr>
        <p:spPr>
          <a:xfrm>
            <a:off x="8077200" y="36830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>
                <a:solidFill>
                  <a:srgbClr val="2E3A4F"/>
                </a:solidFill>
              </a:rPr>
              <a:t>최대 단계</a:t>
            </a:r>
          </a:p>
        </p:txBody>
      </p:sp>
      <p:sp>
        <p:nvSpPr>
          <p:cNvPr id="637" name="t637"/>
          <p:cNvSpPr txBox="1"/>
          <p:nvPr/>
        </p:nvSpPr>
        <p:spPr>
          <a:xfrm>
            <a:off x="9728200" y="3683000"/>
            <a:ext cx="16256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350">
                <a:solidFill>
                  <a:srgbClr val="C0504D"/>
                </a:solidFill>
              </a:rPr>
              <a:t>—</a:t>
            </a:r>
          </a:p>
        </p:txBody>
      </p:sp>
      <p:sp>
        <p:nvSpPr>
          <p:cNvPr id="638" name="t638"/>
          <p:cNvSpPr txBox="1"/>
          <p:nvPr/>
        </p:nvSpPr>
        <p:spPr>
          <a:xfrm>
            <a:off x="838200" y="411480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250">
                <a:solidFill>
                  <a:srgbClr val="5B6B82"/>
                </a:solidFill>
              </a:rPr>
              <a:t>강화 실패 시 비용만 차감되고 티어는 유지 — 높은 티어일수록 성공률이 낮아 전략적 자원 관리가 요구된다.</a:t>
            </a:r>
          </a:p>
        </p:txBody>
      </p:sp>
      <p:sp>
        <p:nvSpPr>
          <p:cNvPr id="639" name="t639"/>
          <p:cNvSpPr txBox="1"/>
          <p:nvPr/>
        </p:nvSpPr>
        <p:spPr>
          <a:xfrm>
            <a:off x="838200" y="4445000"/>
            <a:ext cx="9652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500" b="1">
                <a:solidFill>
                  <a:srgbClr val="2563B0"/>
                </a:solidFill>
              </a:rPr>
              <a:t>전투 소모 아이템 4종 — 종류별 최대 2개, 매 턴 1개 사용</a:t>
            </a:r>
          </a:p>
        </p:txBody>
      </p:sp>
      <p:sp>
        <p:nvSpPr>
          <p:cNvPr id="640" name="r640"/>
          <p:cNvSpPr/>
          <p:nvPr/>
        </p:nvSpPr>
        <p:spPr>
          <a:xfrm>
            <a:off x="838200" y="4775200"/>
            <a:ext cx="2476500" cy="1193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r641"/>
          <p:cNvSpPr/>
          <p:nvPr/>
        </p:nvSpPr>
        <p:spPr>
          <a:xfrm>
            <a:off x="838200" y="4775200"/>
            <a:ext cx="2476500" cy="63500"/>
          </a:xfrm>
          <a:prstGeom prst="roundRect">
            <a:avLst>
              <a:gd name="adj" fmla="val 30000"/>
            </a:avLst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t642"/>
          <p:cNvSpPr txBox="1"/>
          <p:nvPr/>
        </p:nvSpPr>
        <p:spPr>
          <a:xfrm>
            <a:off x="1016000" y="4940300"/>
            <a:ext cx="21209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550" b="1">
                <a:solidFill>
                  <a:srgbClr val="1B2A4A"/>
                </a:solidFill>
              </a:rPr>
              <a:t>힘의 포션</a:t>
            </a:r>
          </a:p>
        </p:txBody>
      </p:sp>
      <p:sp>
        <p:nvSpPr>
          <p:cNvPr id="643" name="t643"/>
          <p:cNvSpPr txBox="1"/>
          <p:nvPr/>
        </p:nvSpPr>
        <p:spPr>
          <a:xfrm>
            <a:off x="1016000" y="5270500"/>
            <a:ext cx="2120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250" b="1">
                <a:solidFill>
                  <a:srgbClr val="C9A227"/>
                </a:solidFill>
              </a:rPr>
              <a:t>150원 · </a:t>
            </a:r>
            <a:r>
              <a:rPr lang="ko-KR" sz="1250" b="1">
                <a:solidFill>
                  <a:srgbClr val="3E8E7E"/>
                </a:solidFill>
              </a:rPr>
              <a:t>승리 시</a:t>
            </a:r>
          </a:p>
        </p:txBody>
      </p:sp>
      <p:sp>
        <p:nvSpPr>
          <p:cNvPr id="644" name="t644"/>
          <p:cNvSpPr txBox="1"/>
          <p:nvPr/>
        </p:nvSpPr>
        <p:spPr>
          <a:xfrm>
            <a:off x="1016000" y="5537200"/>
            <a:ext cx="21209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300">
                <a:solidFill>
                  <a:srgbClr val="2E3A4F"/>
                </a:solidFill>
              </a:rPr>
              <a:t>해당 턴 데미지를 2배로 증폭</a:t>
            </a:r>
          </a:p>
        </p:txBody>
      </p:sp>
      <p:sp>
        <p:nvSpPr>
          <p:cNvPr id="645" name="r645"/>
          <p:cNvSpPr/>
          <p:nvPr/>
        </p:nvSpPr>
        <p:spPr>
          <a:xfrm>
            <a:off x="3517900" y="4775200"/>
            <a:ext cx="2476500" cy="1193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r646"/>
          <p:cNvSpPr/>
          <p:nvPr/>
        </p:nvSpPr>
        <p:spPr>
          <a:xfrm>
            <a:off x="3517900" y="4775200"/>
            <a:ext cx="2476500" cy="63500"/>
          </a:xfrm>
          <a:prstGeom prst="roundRect">
            <a:avLst>
              <a:gd name="adj" fmla="val 30000"/>
            </a:avLst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t647"/>
          <p:cNvSpPr txBox="1"/>
          <p:nvPr/>
        </p:nvSpPr>
        <p:spPr>
          <a:xfrm>
            <a:off x="3695700" y="4940300"/>
            <a:ext cx="21209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550" b="1">
                <a:solidFill>
                  <a:srgbClr val="1B2A4A"/>
                </a:solidFill>
              </a:rPr>
              <a:t>민첩의 포션</a:t>
            </a:r>
          </a:p>
        </p:txBody>
      </p:sp>
      <p:sp>
        <p:nvSpPr>
          <p:cNvPr id="648" name="t648"/>
          <p:cNvSpPr txBox="1"/>
          <p:nvPr/>
        </p:nvSpPr>
        <p:spPr>
          <a:xfrm>
            <a:off x="3695700" y="5270500"/>
            <a:ext cx="2120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250" b="1">
                <a:solidFill>
                  <a:srgbClr val="C9A227"/>
                </a:solidFill>
              </a:rPr>
              <a:t>150원 · </a:t>
            </a:r>
            <a:r>
              <a:rPr lang="ko-KR" sz="1250" b="1">
                <a:solidFill>
                  <a:srgbClr val="3E8E7E"/>
                </a:solidFill>
              </a:rPr>
              <a:t>패배 시</a:t>
            </a:r>
          </a:p>
        </p:txBody>
      </p:sp>
      <p:sp>
        <p:nvSpPr>
          <p:cNvPr id="649" name="t649"/>
          <p:cNvSpPr txBox="1"/>
          <p:nvPr/>
        </p:nvSpPr>
        <p:spPr>
          <a:xfrm>
            <a:off x="3695700" y="5537200"/>
            <a:ext cx="21209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300">
                <a:solidFill>
                  <a:srgbClr val="2E3A4F"/>
                </a:solidFill>
              </a:rPr>
              <a:t>해당 턴 회피율을 2배 상승</a:t>
            </a:r>
          </a:p>
        </p:txBody>
      </p:sp>
      <p:sp>
        <p:nvSpPr>
          <p:cNvPr id="650" name="r650"/>
          <p:cNvSpPr/>
          <p:nvPr/>
        </p:nvSpPr>
        <p:spPr>
          <a:xfrm>
            <a:off x="6197600" y="4775200"/>
            <a:ext cx="2476500" cy="1193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1" name="r651"/>
          <p:cNvSpPr/>
          <p:nvPr/>
        </p:nvSpPr>
        <p:spPr>
          <a:xfrm>
            <a:off x="6197600" y="4775200"/>
            <a:ext cx="2476500" cy="63500"/>
          </a:xfrm>
          <a:prstGeom prst="roundRect">
            <a:avLst>
              <a:gd name="adj" fmla="val 30000"/>
            </a:avLst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2" name="t652"/>
          <p:cNvSpPr txBox="1"/>
          <p:nvPr/>
        </p:nvSpPr>
        <p:spPr>
          <a:xfrm>
            <a:off x="6375400" y="4940300"/>
            <a:ext cx="21209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550" b="1">
                <a:solidFill>
                  <a:srgbClr val="1B2A4A"/>
                </a:solidFill>
              </a:rPr>
              <a:t>밧줄</a:t>
            </a:r>
          </a:p>
        </p:txBody>
      </p:sp>
      <p:sp>
        <p:nvSpPr>
          <p:cNvPr id="653" name="t653"/>
          <p:cNvSpPr txBox="1"/>
          <p:nvPr/>
        </p:nvSpPr>
        <p:spPr>
          <a:xfrm>
            <a:off x="6375400" y="5270500"/>
            <a:ext cx="2120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250" b="1">
                <a:solidFill>
                  <a:srgbClr val="C9A227"/>
                </a:solidFill>
              </a:rPr>
              <a:t>200원 · </a:t>
            </a:r>
            <a:r>
              <a:rPr lang="ko-KR" sz="1250" b="1">
                <a:solidFill>
                  <a:srgbClr val="2563B0"/>
                </a:solidFill>
              </a:rPr>
              <a:t>승리 시</a:t>
            </a:r>
          </a:p>
        </p:txBody>
      </p:sp>
      <p:sp>
        <p:nvSpPr>
          <p:cNvPr id="654" name="t654"/>
          <p:cNvSpPr txBox="1"/>
          <p:nvPr/>
        </p:nvSpPr>
        <p:spPr>
          <a:xfrm>
            <a:off x="6375400" y="5537200"/>
            <a:ext cx="21209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300">
                <a:solidFill>
                  <a:srgbClr val="2E3A4F"/>
                </a:solidFill>
              </a:rPr>
              <a:t>몬스터 회피를 완전 무시</a:t>
            </a:r>
          </a:p>
        </p:txBody>
      </p:sp>
      <p:sp>
        <p:nvSpPr>
          <p:cNvPr id="655" name="r655"/>
          <p:cNvSpPr/>
          <p:nvPr/>
        </p:nvSpPr>
        <p:spPr>
          <a:xfrm>
            <a:off x="8877300" y="4775200"/>
            <a:ext cx="2476500" cy="1193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6" name="r656"/>
          <p:cNvSpPr/>
          <p:nvPr/>
        </p:nvSpPr>
        <p:spPr>
          <a:xfrm>
            <a:off x="8877300" y="4775200"/>
            <a:ext cx="2476500" cy="63500"/>
          </a:xfrm>
          <a:prstGeom prst="roundRect">
            <a:avLst>
              <a:gd name="adj" fmla="val 30000"/>
            </a:avLst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7" name="t657"/>
          <p:cNvSpPr txBox="1"/>
          <p:nvPr/>
        </p:nvSpPr>
        <p:spPr>
          <a:xfrm>
            <a:off x="9055100" y="4940300"/>
            <a:ext cx="21209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550" b="1">
                <a:solidFill>
                  <a:srgbClr val="1B2A4A"/>
                </a:solidFill>
              </a:rPr>
              <a:t>방패</a:t>
            </a:r>
          </a:p>
        </p:txBody>
      </p:sp>
      <p:sp>
        <p:nvSpPr>
          <p:cNvPr id="658" name="t658"/>
          <p:cNvSpPr txBox="1"/>
          <p:nvPr/>
        </p:nvSpPr>
        <p:spPr>
          <a:xfrm>
            <a:off x="9055100" y="5270500"/>
            <a:ext cx="2120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250" b="1">
                <a:solidFill>
                  <a:srgbClr val="C9A227"/>
                </a:solidFill>
              </a:rPr>
              <a:t>200원 · </a:t>
            </a:r>
            <a:r>
              <a:rPr lang="ko-KR" sz="1250" b="1">
                <a:solidFill>
                  <a:srgbClr val="2563B0"/>
                </a:solidFill>
              </a:rPr>
              <a:t>패배 시</a:t>
            </a:r>
          </a:p>
        </p:txBody>
      </p:sp>
      <p:sp>
        <p:nvSpPr>
          <p:cNvPr id="659" name="t659"/>
          <p:cNvSpPr txBox="1"/>
          <p:nvPr/>
        </p:nvSpPr>
        <p:spPr>
          <a:xfrm>
            <a:off x="9055100" y="5537200"/>
            <a:ext cx="21209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300">
                <a:solidFill>
                  <a:srgbClr val="2E3A4F"/>
                </a:solidFill>
              </a:rPr>
              <a:t>받는 데미지를 0으로 차단</a:t>
            </a:r>
          </a:p>
        </p:txBody>
      </p:sp>
    </p:spTree>
    <p:extLst>
      <p:ext uri="{BB962C8B-B14F-4D97-AF65-F5344CB8AC3E}">
        <p14:creationId xmlns:p14="http://schemas.microsoft.com/office/powerpoint/2010/main" val="3639912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9C9A3-5DEF-7C68-C2D1-0475FBEF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9652000" cy="711200"/>
          </a:xfrm>
        </p:spPr>
        <p:txBody>
          <a:bodyPr wrap="square">
            <a:noAutofit/>
          </a:bodyPr>
          <a:lstStyle/>
          <a:p>
            <a:pPr algn="l"/>
            <a:r>
              <a:rPr lang="ko-KR" sz="3000" b="1">
                <a:solidFill>
                  <a:srgbClr val="1B2A4A"/>
                </a:solidFill>
              </a:rPr>
              <a:t>객체지향 설계 원칙 적용</a:t>
            </a:r>
          </a:p>
        </p:txBody>
      </p:sp>
      <p:sp>
        <p:nvSpPr>
          <p:cNvPr id="601" name="t602"/>
          <p:cNvSpPr txBox="1"/>
          <p:nvPr/>
        </p:nvSpPr>
        <p:spPr>
          <a:xfrm>
            <a:off x="838200" y="149860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ko-KR" sz="1400">
                <a:solidFill>
                  <a:srgbClr val="2E3A4F"/>
                </a:solidFill>
              </a:rPr>
              <a:t>친숙한 게임 도메인 위에서 C++ 객체지향의 핵심 원칙을 빠짐없이 적용했다.</a:t>
            </a:r>
          </a:p>
        </p:txBody>
      </p:sp>
      <p:sp>
        <p:nvSpPr>
          <p:cNvPr id="602" name="r603"/>
          <p:cNvSpPr/>
          <p:nvPr/>
        </p:nvSpPr>
        <p:spPr>
          <a:xfrm>
            <a:off x="838200" y="2032000"/>
            <a:ext cx="2476500" cy="1905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r604"/>
          <p:cNvSpPr/>
          <p:nvPr/>
        </p:nvSpPr>
        <p:spPr>
          <a:xfrm>
            <a:off x="838200" y="2032000"/>
            <a:ext cx="63500" cy="19050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t605"/>
          <p:cNvSpPr txBox="1"/>
          <p:nvPr/>
        </p:nvSpPr>
        <p:spPr>
          <a:xfrm>
            <a:off x="1066800" y="2235200"/>
            <a:ext cx="2070100" cy="152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ko-KR" sz="1600" b="1" dirty="0">
                <a:solidFill>
                  <a:srgbClr val="1B2A4A"/>
                </a:solidFill>
              </a:rPr>
              <a:t>추상 클래스</a:t>
            </a:r>
          </a:p>
          <a:p>
            <a:pPr>
              <a:spcBef>
                <a:spcPts val="100"/>
              </a:spcBef>
            </a:pPr>
            <a:r>
              <a:rPr lang="en-US" sz="1100" b="1" spc="60" dirty="0">
                <a:solidFill>
                  <a:srgbClr val="2563B0"/>
                </a:solidFill>
              </a:rPr>
              <a:t>Abstract Class</a:t>
            </a:r>
          </a:p>
          <a:p>
            <a:pPr>
              <a:spcBef>
                <a:spcPts val="100"/>
              </a:spcBef>
            </a:pPr>
            <a:endParaRPr lang="en-US" sz="1100" b="1" spc="60" dirty="0">
              <a:solidFill>
                <a:srgbClr val="2563B0"/>
              </a:solidFill>
            </a:endParaRPr>
          </a:p>
          <a:p>
            <a:pPr>
              <a:lnSpc>
                <a:spcPts val="1500"/>
              </a:lnSpc>
              <a:spcBef>
                <a:spcPts val="500"/>
              </a:spcBef>
            </a:pPr>
            <a:r>
              <a:rPr lang="ko-KR" sz="1200" dirty="0" err="1">
                <a:solidFill>
                  <a:srgbClr val="455166"/>
                </a:solidFill>
              </a:rPr>
              <a:t>Screen이</a:t>
            </a:r>
            <a:r>
              <a:rPr lang="en-US" altLang="ko-KR" sz="1200" dirty="0">
                <a:solidFill>
                  <a:srgbClr val="455166"/>
                </a:solidFill>
              </a:rPr>
              <a:t> </a:t>
            </a:r>
            <a:r>
              <a:rPr lang="ko-KR" sz="1200" dirty="0" err="1">
                <a:solidFill>
                  <a:srgbClr val="455166"/>
                </a:solidFill>
              </a:rPr>
              <a:t>render</a:t>
            </a:r>
            <a:r>
              <a:rPr lang="ko-KR" sz="1200" dirty="0">
                <a:solidFill>
                  <a:srgbClr val="455166"/>
                </a:solidFill>
              </a:rPr>
              <a:t>()·</a:t>
            </a:r>
            <a:r>
              <a:rPr lang="ko-KR" sz="1200" dirty="0" err="1">
                <a:solidFill>
                  <a:srgbClr val="455166"/>
                </a:solidFill>
              </a:rPr>
              <a:t>handleInput</a:t>
            </a:r>
            <a:r>
              <a:rPr lang="ko-KR" sz="1200" dirty="0">
                <a:solidFill>
                  <a:srgbClr val="455166"/>
                </a:solidFill>
              </a:rPr>
              <a:t>() 두 순수 가상 함수로 계약을 정의 </a:t>
            </a:r>
            <a:r>
              <a:rPr lang="en-US" altLang="ko-KR" sz="1200" dirty="0">
                <a:solidFill>
                  <a:srgbClr val="455166"/>
                </a:solidFill>
              </a:rPr>
              <a:t>-</a:t>
            </a:r>
            <a:r>
              <a:rPr lang="ko-KR" sz="1200" dirty="0">
                <a:solidFill>
                  <a:srgbClr val="455166"/>
                </a:solidFill>
              </a:rPr>
              <a:t> 직접 인스턴스화 불가.</a:t>
            </a:r>
          </a:p>
        </p:txBody>
      </p:sp>
      <p:sp>
        <p:nvSpPr>
          <p:cNvPr id="605" name="r606"/>
          <p:cNvSpPr/>
          <p:nvPr/>
        </p:nvSpPr>
        <p:spPr>
          <a:xfrm>
            <a:off x="3517900" y="2032000"/>
            <a:ext cx="2476500" cy="1905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r607"/>
          <p:cNvSpPr/>
          <p:nvPr/>
        </p:nvSpPr>
        <p:spPr>
          <a:xfrm>
            <a:off x="3517900" y="2032000"/>
            <a:ext cx="63500" cy="19050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t608"/>
          <p:cNvSpPr txBox="1"/>
          <p:nvPr/>
        </p:nvSpPr>
        <p:spPr>
          <a:xfrm>
            <a:off x="3746500" y="2235200"/>
            <a:ext cx="2070100" cy="152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ko-KR" sz="1600" b="1" dirty="0">
                <a:solidFill>
                  <a:srgbClr val="1B2A4A"/>
                </a:solidFill>
              </a:rPr>
              <a:t>상속</a:t>
            </a:r>
          </a:p>
          <a:p>
            <a:pPr>
              <a:spcBef>
                <a:spcPts val="100"/>
              </a:spcBef>
            </a:pPr>
            <a:r>
              <a:rPr lang="en-US" sz="1100" b="1" spc="60" dirty="0">
                <a:solidFill>
                  <a:srgbClr val="2563B0"/>
                </a:solidFill>
              </a:rPr>
              <a:t>Inheritance</a:t>
            </a:r>
          </a:p>
          <a:p>
            <a:pPr>
              <a:spcBef>
                <a:spcPts val="100"/>
              </a:spcBef>
            </a:pPr>
            <a:endParaRPr lang="en-US" sz="1100" b="1" spc="60" dirty="0">
              <a:solidFill>
                <a:srgbClr val="2563B0"/>
              </a:solidFill>
            </a:endParaRPr>
          </a:p>
          <a:p>
            <a:pPr>
              <a:lnSpc>
                <a:spcPts val="1500"/>
              </a:lnSpc>
              <a:spcBef>
                <a:spcPts val="500"/>
              </a:spcBef>
            </a:pPr>
            <a:r>
              <a:rPr lang="ko-KR" sz="1200" dirty="0">
                <a:solidFill>
                  <a:srgbClr val="455166"/>
                </a:solidFill>
              </a:rPr>
              <a:t>8개 화면 + 3개 훈련 서브클래스가 </a:t>
            </a:r>
            <a:r>
              <a:rPr lang="ko-KR" sz="1200" dirty="0" err="1">
                <a:solidFill>
                  <a:srgbClr val="455166"/>
                </a:solidFill>
              </a:rPr>
              <a:t>Screen을</a:t>
            </a:r>
            <a:r>
              <a:rPr lang="ko-KR" sz="1200" dirty="0">
                <a:solidFill>
                  <a:srgbClr val="455166"/>
                </a:solidFill>
              </a:rPr>
              <a:t> 공개 상속, 2단계 계층을 형성.</a:t>
            </a:r>
          </a:p>
        </p:txBody>
      </p:sp>
      <p:sp>
        <p:nvSpPr>
          <p:cNvPr id="608" name="r609"/>
          <p:cNvSpPr/>
          <p:nvPr/>
        </p:nvSpPr>
        <p:spPr>
          <a:xfrm>
            <a:off x="6197600" y="2032000"/>
            <a:ext cx="2476500" cy="1905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r610"/>
          <p:cNvSpPr/>
          <p:nvPr/>
        </p:nvSpPr>
        <p:spPr>
          <a:xfrm>
            <a:off x="6197600" y="2032000"/>
            <a:ext cx="63500" cy="19050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t611"/>
          <p:cNvSpPr txBox="1"/>
          <p:nvPr/>
        </p:nvSpPr>
        <p:spPr>
          <a:xfrm>
            <a:off x="6426200" y="2235200"/>
            <a:ext cx="2070100" cy="152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ko-KR" sz="1600" b="1" dirty="0" err="1">
                <a:solidFill>
                  <a:srgbClr val="1B2A4A"/>
                </a:solidFill>
              </a:rPr>
              <a:t>다형성</a:t>
            </a:r>
            <a:endParaRPr lang="ko-KR" sz="1600" b="1" dirty="0">
              <a:solidFill>
                <a:srgbClr val="1B2A4A"/>
              </a:solidFill>
            </a:endParaRPr>
          </a:p>
          <a:p>
            <a:pPr>
              <a:spcBef>
                <a:spcPts val="100"/>
              </a:spcBef>
            </a:pPr>
            <a:r>
              <a:rPr lang="en-US" sz="1100" b="1" spc="60" dirty="0">
                <a:solidFill>
                  <a:srgbClr val="2563B0"/>
                </a:solidFill>
              </a:rPr>
              <a:t>Polymorphism</a:t>
            </a:r>
          </a:p>
          <a:p>
            <a:pPr>
              <a:spcBef>
                <a:spcPts val="100"/>
              </a:spcBef>
            </a:pPr>
            <a:endParaRPr lang="en-US" sz="1100" b="1" spc="60" dirty="0">
              <a:solidFill>
                <a:srgbClr val="2563B0"/>
              </a:solidFill>
            </a:endParaRPr>
          </a:p>
          <a:p>
            <a:pPr>
              <a:lnSpc>
                <a:spcPts val="1500"/>
              </a:lnSpc>
              <a:spcBef>
                <a:spcPts val="500"/>
              </a:spcBef>
            </a:pPr>
            <a:r>
              <a:rPr lang="ko-KR" sz="1200" dirty="0" err="1">
                <a:solidFill>
                  <a:srgbClr val="455166"/>
                </a:solidFill>
              </a:rPr>
              <a:t>unique_ptr</a:t>
            </a:r>
            <a:r>
              <a:rPr lang="ko-KR" sz="1200" dirty="0">
                <a:solidFill>
                  <a:srgbClr val="455166"/>
                </a:solidFill>
              </a:rPr>
              <a:t>&lt;</a:t>
            </a:r>
            <a:r>
              <a:rPr lang="ko-KR" sz="1200" dirty="0" err="1">
                <a:solidFill>
                  <a:srgbClr val="455166"/>
                </a:solidFill>
              </a:rPr>
              <a:t>Screen</a:t>
            </a:r>
            <a:r>
              <a:rPr lang="ko-KR" sz="1200" dirty="0">
                <a:solidFill>
                  <a:srgbClr val="455166"/>
                </a:solidFill>
              </a:rPr>
              <a:t>&gt; 하나로 런타임에 실제 파생 메서드를 호출 — </a:t>
            </a:r>
            <a:r>
              <a:rPr lang="ko-KR" sz="1200" dirty="0" err="1">
                <a:solidFill>
                  <a:srgbClr val="455166"/>
                </a:solidFill>
              </a:rPr>
              <a:t>if-else</a:t>
            </a:r>
            <a:r>
              <a:rPr lang="ko-KR" sz="1200" dirty="0">
                <a:solidFill>
                  <a:srgbClr val="455166"/>
                </a:solidFill>
              </a:rPr>
              <a:t> 없는 전환.</a:t>
            </a:r>
          </a:p>
        </p:txBody>
      </p:sp>
      <p:sp>
        <p:nvSpPr>
          <p:cNvPr id="611" name="r612"/>
          <p:cNvSpPr/>
          <p:nvPr/>
        </p:nvSpPr>
        <p:spPr>
          <a:xfrm>
            <a:off x="8877300" y="2032000"/>
            <a:ext cx="2476500" cy="1905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r613"/>
          <p:cNvSpPr/>
          <p:nvPr/>
        </p:nvSpPr>
        <p:spPr>
          <a:xfrm>
            <a:off x="8877300" y="2032000"/>
            <a:ext cx="63500" cy="19050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t614"/>
          <p:cNvSpPr txBox="1"/>
          <p:nvPr/>
        </p:nvSpPr>
        <p:spPr>
          <a:xfrm>
            <a:off x="9105900" y="2235200"/>
            <a:ext cx="2070100" cy="152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ko-KR" sz="1600" b="1" dirty="0">
                <a:solidFill>
                  <a:srgbClr val="1B2A4A"/>
                </a:solidFill>
              </a:rPr>
              <a:t>캡슐화</a:t>
            </a:r>
          </a:p>
          <a:p>
            <a:pPr>
              <a:spcBef>
                <a:spcPts val="100"/>
              </a:spcBef>
            </a:pPr>
            <a:r>
              <a:rPr lang="en-US" sz="1100" b="1" spc="60" dirty="0">
                <a:solidFill>
                  <a:srgbClr val="2563B0"/>
                </a:solidFill>
              </a:rPr>
              <a:t>Encapsulation</a:t>
            </a:r>
          </a:p>
          <a:p>
            <a:pPr>
              <a:spcBef>
                <a:spcPts val="100"/>
              </a:spcBef>
            </a:pPr>
            <a:endParaRPr lang="en-US" sz="1100" b="1" spc="60" dirty="0">
              <a:solidFill>
                <a:srgbClr val="2563B0"/>
              </a:solidFill>
            </a:endParaRPr>
          </a:p>
          <a:p>
            <a:pPr>
              <a:lnSpc>
                <a:spcPts val="1500"/>
              </a:lnSpc>
              <a:spcBef>
                <a:spcPts val="500"/>
              </a:spcBef>
            </a:pPr>
            <a:r>
              <a:rPr lang="ko-KR" sz="1200" dirty="0">
                <a:solidFill>
                  <a:srgbClr val="455166"/>
                </a:solidFill>
              </a:rPr>
              <a:t>멤버 변수는 </a:t>
            </a:r>
            <a:r>
              <a:rPr lang="ko-KR" sz="1200" dirty="0" err="1">
                <a:solidFill>
                  <a:srgbClr val="455166"/>
                </a:solidFill>
              </a:rPr>
              <a:t>private</a:t>
            </a:r>
            <a:r>
              <a:rPr lang="ko-KR" sz="1200" dirty="0">
                <a:solidFill>
                  <a:srgbClr val="455166"/>
                </a:solidFill>
              </a:rPr>
              <a:t>, 외부 접근은 </a:t>
            </a:r>
            <a:r>
              <a:rPr lang="ko-KR" sz="1200" dirty="0" err="1">
                <a:solidFill>
                  <a:srgbClr val="455166"/>
                </a:solidFill>
              </a:rPr>
              <a:t>public</a:t>
            </a:r>
            <a:r>
              <a:rPr lang="ko-KR" sz="1200" dirty="0">
                <a:solidFill>
                  <a:srgbClr val="455166"/>
                </a:solidFill>
              </a:rPr>
              <a:t> </a:t>
            </a:r>
            <a:r>
              <a:rPr lang="ko-KR" sz="1200" dirty="0" err="1">
                <a:solidFill>
                  <a:srgbClr val="455166"/>
                </a:solidFill>
              </a:rPr>
              <a:t>getter</a:t>
            </a:r>
            <a:r>
              <a:rPr lang="ko-KR" sz="1200" dirty="0">
                <a:solidFill>
                  <a:srgbClr val="455166"/>
                </a:solidFill>
              </a:rPr>
              <a:t>/</a:t>
            </a:r>
            <a:r>
              <a:rPr lang="ko-KR" sz="1200" dirty="0" err="1">
                <a:solidFill>
                  <a:srgbClr val="455166"/>
                </a:solidFill>
              </a:rPr>
              <a:t>setter로만</a:t>
            </a:r>
            <a:r>
              <a:rPr lang="ko-KR" sz="1200" dirty="0">
                <a:solidFill>
                  <a:srgbClr val="455166"/>
                </a:solidFill>
              </a:rPr>
              <a:t>. </a:t>
            </a:r>
            <a:r>
              <a:rPr lang="ko-KR" sz="1200" dirty="0" err="1">
                <a:solidFill>
                  <a:srgbClr val="455166"/>
                </a:solidFill>
              </a:rPr>
              <a:t>clampStats</a:t>
            </a:r>
            <a:r>
              <a:rPr lang="ko-KR" sz="1200" dirty="0">
                <a:solidFill>
                  <a:srgbClr val="455166"/>
                </a:solidFill>
              </a:rPr>
              <a:t>()는 내부 전용.</a:t>
            </a:r>
          </a:p>
        </p:txBody>
      </p:sp>
      <p:sp>
        <p:nvSpPr>
          <p:cNvPr id="614" name="r615"/>
          <p:cNvSpPr/>
          <p:nvPr/>
        </p:nvSpPr>
        <p:spPr>
          <a:xfrm>
            <a:off x="838200" y="4089400"/>
            <a:ext cx="2476500" cy="1905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r616"/>
          <p:cNvSpPr/>
          <p:nvPr/>
        </p:nvSpPr>
        <p:spPr>
          <a:xfrm>
            <a:off x="838200" y="4089400"/>
            <a:ext cx="63500" cy="1905000"/>
          </a:xfrm>
          <a:prstGeom prst="rect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t617"/>
          <p:cNvSpPr txBox="1"/>
          <p:nvPr/>
        </p:nvSpPr>
        <p:spPr>
          <a:xfrm>
            <a:off x="1066800" y="4292600"/>
            <a:ext cx="2070100" cy="152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ko-KR" sz="1600" b="1" dirty="0">
                <a:solidFill>
                  <a:srgbClr val="1B2A4A"/>
                </a:solidFill>
              </a:rPr>
              <a:t>정적 멤버</a:t>
            </a:r>
          </a:p>
          <a:p>
            <a:pPr>
              <a:spcBef>
                <a:spcPts val="100"/>
              </a:spcBef>
            </a:pPr>
            <a:r>
              <a:rPr lang="en-US" sz="1100" b="1" spc="60" dirty="0">
                <a:solidFill>
                  <a:srgbClr val="3E8E7E"/>
                </a:solidFill>
              </a:rPr>
              <a:t>Static Member</a:t>
            </a:r>
          </a:p>
          <a:p>
            <a:pPr>
              <a:spcBef>
                <a:spcPts val="100"/>
              </a:spcBef>
            </a:pPr>
            <a:endParaRPr lang="en-US" sz="1100" b="1" spc="60" dirty="0">
              <a:solidFill>
                <a:srgbClr val="3E8E7E"/>
              </a:solidFill>
            </a:endParaRPr>
          </a:p>
          <a:p>
            <a:pPr>
              <a:lnSpc>
                <a:spcPts val="1500"/>
              </a:lnSpc>
              <a:spcBef>
                <a:spcPts val="500"/>
              </a:spcBef>
            </a:pPr>
            <a:r>
              <a:rPr lang="ko-KR" sz="1200" dirty="0" err="1">
                <a:solidFill>
                  <a:srgbClr val="455166"/>
                </a:solidFill>
              </a:rPr>
              <a:t>Renderer</a:t>
            </a:r>
            <a:r>
              <a:rPr lang="ko-KR" sz="1200" dirty="0">
                <a:solidFill>
                  <a:srgbClr val="455166"/>
                </a:solidFill>
              </a:rPr>
              <a:t> </a:t>
            </a:r>
            <a:r>
              <a:rPr lang="ko-KR" sz="1200" dirty="0" err="1">
                <a:solidFill>
                  <a:srgbClr val="455166"/>
                </a:solidFill>
              </a:rPr>
              <a:t>메서드·색상</a:t>
            </a:r>
            <a:r>
              <a:rPr lang="ko-KR" sz="1200" dirty="0">
                <a:solidFill>
                  <a:srgbClr val="455166"/>
                </a:solidFill>
              </a:rPr>
              <a:t> 상수, </a:t>
            </a:r>
            <a:r>
              <a:rPr lang="ko-KR" sz="1200" dirty="0" err="1">
                <a:solidFill>
                  <a:srgbClr val="455166"/>
                </a:solidFill>
              </a:rPr>
              <a:t>generateStageMonster</a:t>
            </a:r>
            <a:r>
              <a:rPr lang="ko-KR" sz="1200" dirty="0">
                <a:solidFill>
                  <a:srgbClr val="455166"/>
                </a:solidFill>
              </a:rPr>
              <a:t>() 팩토리, 각 </a:t>
            </a:r>
            <a:r>
              <a:rPr lang="ko-KR" sz="1200" dirty="0" err="1">
                <a:solidFill>
                  <a:srgbClr val="455166"/>
                </a:solidFill>
              </a:rPr>
              <a:t>TABLE을</a:t>
            </a:r>
            <a:r>
              <a:rPr lang="ko-KR" sz="1200" dirty="0">
                <a:solidFill>
                  <a:srgbClr val="455166"/>
                </a:solidFill>
              </a:rPr>
              <a:t> </a:t>
            </a:r>
            <a:r>
              <a:rPr lang="ko-KR" sz="1200" dirty="0" err="1">
                <a:solidFill>
                  <a:srgbClr val="455166"/>
                </a:solidFill>
              </a:rPr>
              <a:t>static</a:t>
            </a:r>
            <a:r>
              <a:rPr lang="ko-KR" sz="1200" dirty="0">
                <a:solidFill>
                  <a:srgbClr val="455166"/>
                </a:solidFill>
              </a:rPr>
              <a:t> 구현.</a:t>
            </a:r>
          </a:p>
        </p:txBody>
      </p:sp>
      <p:sp>
        <p:nvSpPr>
          <p:cNvPr id="617" name="r618"/>
          <p:cNvSpPr/>
          <p:nvPr/>
        </p:nvSpPr>
        <p:spPr>
          <a:xfrm>
            <a:off x="3517900" y="4089400"/>
            <a:ext cx="2476500" cy="1905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8" name="r619"/>
          <p:cNvSpPr/>
          <p:nvPr/>
        </p:nvSpPr>
        <p:spPr>
          <a:xfrm>
            <a:off x="3517900" y="4089400"/>
            <a:ext cx="63500" cy="1905000"/>
          </a:xfrm>
          <a:prstGeom prst="rect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9" name="t620"/>
          <p:cNvSpPr txBox="1"/>
          <p:nvPr/>
        </p:nvSpPr>
        <p:spPr>
          <a:xfrm>
            <a:off x="3746500" y="4292600"/>
            <a:ext cx="2070100" cy="152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ko-KR" sz="1600" b="1" dirty="0">
                <a:solidFill>
                  <a:srgbClr val="1B2A4A"/>
                </a:solidFill>
              </a:rPr>
              <a:t>스마트 포인터</a:t>
            </a:r>
          </a:p>
          <a:p>
            <a:pPr>
              <a:spcBef>
                <a:spcPts val="100"/>
              </a:spcBef>
            </a:pPr>
            <a:r>
              <a:rPr lang="en-US" sz="1100" b="1" spc="60" dirty="0">
                <a:solidFill>
                  <a:srgbClr val="3E8E7E"/>
                </a:solidFill>
              </a:rPr>
              <a:t>Smart Pointer</a:t>
            </a:r>
          </a:p>
          <a:p>
            <a:pPr>
              <a:spcBef>
                <a:spcPts val="100"/>
              </a:spcBef>
            </a:pPr>
            <a:endParaRPr lang="en-US" sz="1100" b="1" spc="60" dirty="0">
              <a:solidFill>
                <a:srgbClr val="3E8E7E"/>
              </a:solidFill>
            </a:endParaRPr>
          </a:p>
          <a:p>
            <a:pPr>
              <a:lnSpc>
                <a:spcPts val="1500"/>
              </a:lnSpc>
              <a:spcBef>
                <a:spcPts val="500"/>
              </a:spcBef>
            </a:pPr>
            <a:r>
              <a:rPr lang="ko-KR" sz="1200" dirty="0" err="1">
                <a:solidFill>
                  <a:srgbClr val="455166"/>
                </a:solidFill>
              </a:rPr>
              <a:t>unique_ptr</a:t>
            </a:r>
            <a:r>
              <a:rPr lang="ko-KR" sz="1200" dirty="0">
                <a:solidFill>
                  <a:srgbClr val="455166"/>
                </a:solidFill>
              </a:rPr>
              <a:t> 소유권을 </a:t>
            </a:r>
            <a:r>
              <a:rPr lang="ko-KR" sz="1200" dirty="0" err="1">
                <a:solidFill>
                  <a:srgbClr val="455166"/>
                </a:solidFill>
              </a:rPr>
              <a:t>std</a:t>
            </a:r>
            <a:r>
              <a:rPr lang="ko-KR" sz="1200" dirty="0">
                <a:solidFill>
                  <a:srgbClr val="455166"/>
                </a:solidFill>
              </a:rPr>
              <a:t>::</a:t>
            </a:r>
            <a:r>
              <a:rPr lang="ko-KR" sz="1200" dirty="0" err="1">
                <a:solidFill>
                  <a:srgbClr val="455166"/>
                </a:solidFill>
              </a:rPr>
              <a:t>move로</a:t>
            </a:r>
            <a:r>
              <a:rPr lang="ko-KR" sz="1200" dirty="0">
                <a:solidFill>
                  <a:srgbClr val="455166"/>
                </a:solidFill>
              </a:rPr>
              <a:t> 이전, 가상 소멸자로 누수 없이 자동 해제.</a:t>
            </a:r>
          </a:p>
        </p:txBody>
      </p:sp>
      <p:sp>
        <p:nvSpPr>
          <p:cNvPr id="620" name="r621"/>
          <p:cNvSpPr/>
          <p:nvPr/>
        </p:nvSpPr>
        <p:spPr>
          <a:xfrm>
            <a:off x="6197600" y="4089400"/>
            <a:ext cx="2476500" cy="1905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1" name="r622"/>
          <p:cNvSpPr/>
          <p:nvPr/>
        </p:nvSpPr>
        <p:spPr>
          <a:xfrm>
            <a:off x="6197600" y="4089400"/>
            <a:ext cx="63500" cy="1905000"/>
          </a:xfrm>
          <a:prstGeom prst="rect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2" name="t623"/>
          <p:cNvSpPr txBox="1"/>
          <p:nvPr/>
        </p:nvSpPr>
        <p:spPr>
          <a:xfrm>
            <a:off x="6426200" y="4292600"/>
            <a:ext cx="2070100" cy="152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ko-KR" sz="1600" b="1" dirty="0">
                <a:solidFill>
                  <a:srgbClr val="1B2A4A"/>
                </a:solidFill>
              </a:rPr>
              <a:t>상태 머신</a:t>
            </a:r>
          </a:p>
          <a:p>
            <a:pPr>
              <a:spcBef>
                <a:spcPts val="100"/>
              </a:spcBef>
            </a:pPr>
            <a:r>
              <a:rPr lang="en-US" sz="1100" b="1" spc="60" dirty="0">
                <a:solidFill>
                  <a:srgbClr val="3E8E7E"/>
                </a:solidFill>
              </a:rPr>
              <a:t>State Machine</a:t>
            </a:r>
          </a:p>
          <a:p>
            <a:pPr>
              <a:spcBef>
                <a:spcPts val="100"/>
              </a:spcBef>
            </a:pPr>
            <a:endParaRPr lang="en-US" sz="1100" b="1" spc="60" dirty="0">
              <a:solidFill>
                <a:srgbClr val="3E8E7E"/>
              </a:solidFill>
            </a:endParaRPr>
          </a:p>
          <a:p>
            <a:pPr>
              <a:lnSpc>
                <a:spcPts val="1500"/>
              </a:lnSpc>
              <a:spcBef>
                <a:spcPts val="500"/>
              </a:spcBef>
            </a:pPr>
            <a:r>
              <a:rPr lang="ko-KR" sz="1200" dirty="0" err="1">
                <a:solidFill>
                  <a:srgbClr val="455166"/>
                </a:solidFill>
              </a:rPr>
              <a:t>BattleState</a:t>
            </a:r>
            <a:r>
              <a:rPr lang="ko-KR" sz="1200" dirty="0">
                <a:solidFill>
                  <a:srgbClr val="455166"/>
                </a:solidFill>
              </a:rPr>
              <a:t> 등 </a:t>
            </a:r>
            <a:r>
              <a:rPr lang="ko-KR" sz="1200" dirty="0" err="1">
                <a:solidFill>
                  <a:srgbClr val="455166"/>
                </a:solidFill>
              </a:rPr>
              <a:t>enum</a:t>
            </a:r>
            <a:r>
              <a:rPr lang="ko-KR" sz="1200" dirty="0">
                <a:solidFill>
                  <a:srgbClr val="455166"/>
                </a:solidFill>
              </a:rPr>
              <a:t> </a:t>
            </a:r>
            <a:r>
              <a:rPr lang="ko-KR" sz="1200" dirty="0" err="1">
                <a:solidFill>
                  <a:srgbClr val="455166"/>
                </a:solidFill>
              </a:rPr>
              <a:t>class로</a:t>
            </a:r>
            <a:r>
              <a:rPr lang="ko-KR" sz="1200" dirty="0">
                <a:solidFill>
                  <a:srgbClr val="455166"/>
                </a:solidFill>
              </a:rPr>
              <a:t> 각 화면 내부 상태를 타입 안전하게 관리.</a:t>
            </a:r>
          </a:p>
        </p:txBody>
      </p:sp>
      <p:sp>
        <p:nvSpPr>
          <p:cNvPr id="623" name="r624"/>
          <p:cNvSpPr/>
          <p:nvPr/>
        </p:nvSpPr>
        <p:spPr>
          <a:xfrm>
            <a:off x="8877300" y="4089400"/>
            <a:ext cx="2476500" cy="19050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4" name="r625"/>
          <p:cNvSpPr/>
          <p:nvPr/>
        </p:nvSpPr>
        <p:spPr>
          <a:xfrm>
            <a:off x="8877300" y="4089400"/>
            <a:ext cx="63500" cy="1905000"/>
          </a:xfrm>
          <a:prstGeom prst="rect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5" name="t626"/>
          <p:cNvSpPr txBox="1"/>
          <p:nvPr/>
        </p:nvSpPr>
        <p:spPr>
          <a:xfrm>
            <a:off x="9105900" y="4292600"/>
            <a:ext cx="2070100" cy="152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ko-KR" sz="1600" b="1" dirty="0">
                <a:solidFill>
                  <a:srgbClr val="1B2A4A"/>
                </a:solidFill>
              </a:rPr>
              <a:t>RAII 패턴</a:t>
            </a:r>
          </a:p>
          <a:p>
            <a:pPr>
              <a:spcBef>
                <a:spcPts val="100"/>
              </a:spcBef>
            </a:pPr>
            <a:r>
              <a:rPr lang="en-US" sz="1100" b="1" spc="60" dirty="0">
                <a:solidFill>
                  <a:srgbClr val="3E8E7E"/>
                </a:solidFill>
              </a:rPr>
              <a:t>RAII</a:t>
            </a:r>
          </a:p>
          <a:p>
            <a:pPr>
              <a:spcBef>
                <a:spcPts val="100"/>
              </a:spcBef>
            </a:pPr>
            <a:endParaRPr lang="en-US" sz="1100" b="1" spc="60" dirty="0">
              <a:solidFill>
                <a:srgbClr val="3E8E7E"/>
              </a:solidFill>
            </a:endParaRPr>
          </a:p>
          <a:p>
            <a:pPr>
              <a:lnSpc>
                <a:spcPts val="1500"/>
              </a:lnSpc>
              <a:spcBef>
                <a:spcPts val="500"/>
              </a:spcBef>
            </a:pPr>
            <a:r>
              <a:rPr lang="ko-KR" sz="1200" dirty="0" err="1">
                <a:solidFill>
                  <a:srgbClr val="455166"/>
                </a:solidFill>
              </a:rPr>
              <a:t>InputHandler</a:t>
            </a:r>
            <a:r>
              <a:rPr lang="ko-KR" sz="1200" dirty="0">
                <a:solidFill>
                  <a:srgbClr val="455166"/>
                </a:solidFill>
              </a:rPr>
              <a:t> </a:t>
            </a:r>
            <a:r>
              <a:rPr lang="ko-KR" sz="1200" dirty="0" err="1">
                <a:solidFill>
                  <a:srgbClr val="455166"/>
                </a:solidFill>
              </a:rPr>
              <a:t>생성·소멸자에서</a:t>
            </a:r>
            <a:r>
              <a:rPr lang="ko-KR" sz="1200" dirty="0">
                <a:solidFill>
                  <a:srgbClr val="455166"/>
                </a:solidFill>
              </a:rPr>
              <a:t> </a:t>
            </a:r>
            <a:r>
              <a:rPr lang="ko-KR" sz="1200" dirty="0" err="1">
                <a:solidFill>
                  <a:srgbClr val="455166"/>
                </a:solidFill>
              </a:rPr>
              <a:t>termios를</a:t>
            </a:r>
            <a:r>
              <a:rPr lang="ko-KR" sz="1200" dirty="0">
                <a:solidFill>
                  <a:srgbClr val="455166"/>
                </a:solidFill>
              </a:rPr>
              <a:t> </a:t>
            </a:r>
            <a:r>
              <a:rPr lang="ko-KR" sz="1200" dirty="0" err="1">
                <a:solidFill>
                  <a:srgbClr val="455166"/>
                </a:solidFill>
              </a:rPr>
              <a:t>설정·복원</a:t>
            </a:r>
            <a:r>
              <a:rPr lang="ko-KR" sz="1200" dirty="0">
                <a:solidFill>
                  <a:srgbClr val="455166"/>
                </a:solidFill>
              </a:rPr>
              <a:t> — 비정상 종료에도 안전.</a:t>
            </a:r>
          </a:p>
        </p:txBody>
      </p:sp>
    </p:spTree>
    <p:extLst>
      <p:ext uri="{BB962C8B-B14F-4D97-AF65-F5344CB8AC3E}">
        <p14:creationId xmlns:p14="http://schemas.microsoft.com/office/powerpoint/2010/main" val="946767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1BE3A0-8607-7F89-A1E5-B8CB31A7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9652000" cy="711200"/>
          </a:xfrm>
        </p:spPr>
        <p:txBody>
          <a:bodyPr wrap="square">
            <a:noAutofit/>
          </a:bodyPr>
          <a:lstStyle/>
          <a:p>
            <a:pPr algn="l"/>
            <a:r>
              <a:rPr lang="ko-KR" sz="3000" b="1">
                <a:solidFill>
                  <a:srgbClr val="1B2A4A"/>
                </a:solidFill>
              </a:rPr>
              <a:t>테스트 &amp; 검증</a:t>
            </a:r>
          </a:p>
        </p:txBody>
      </p:sp>
      <p:sp>
        <p:nvSpPr>
          <p:cNvPr id="601" name="s602"/>
          <p:cNvSpPr/>
          <p:nvPr/>
        </p:nvSpPr>
        <p:spPr>
          <a:xfrm>
            <a:off x="838200" y="1905000"/>
            <a:ext cx="3098800" cy="3708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t603"/>
          <p:cNvSpPr txBox="1"/>
          <p:nvPr/>
        </p:nvSpPr>
        <p:spPr>
          <a:xfrm>
            <a:off x="1143000" y="2159000"/>
            <a:ext cx="2489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150" b="1">
                <a:solidFill>
                  <a:srgbClr val="C9A227"/>
                </a:solidFill>
              </a:rPr>
              <a:t>TEST RESULTS</a:t>
            </a:r>
          </a:p>
        </p:txBody>
      </p:sp>
      <p:sp>
        <p:nvSpPr>
          <p:cNvPr id="603" name="t604"/>
          <p:cNvSpPr txBox="1"/>
          <p:nvPr/>
        </p:nvSpPr>
        <p:spPr>
          <a:xfrm>
            <a:off x="1143000" y="2438400"/>
            <a:ext cx="2540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5400" b="1">
                <a:solidFill>
                  <a:srgbClr val="FFFFFF"/>
                </a:solidFill>
              </a:rPr>
              <a:t>10 / 10</a:t>
            </a:r>
          </a:p>
        </p:txBody>
      </p:sp>
      <p:sp>
        <p:nvSpPr>
          <p:cNvPr id="604" name="t605"/>
          <p:cNvSpPr txBox="1"/>
          <p:nvPr/>
        </p:nvSpPr>
        <p:spPr>
          <a:xfrm>
            <a:off x="1143000" y="35306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500" b="1">
                <a:solidFill>
                  <a:srgbClr val="FFFFFF"/>
                </a:solidFill>
              </a:rPr>
              <a:t>테스트 항목 전체 통과</a:t>
            </a:r>
          </a:p>
        </p:txBody>
      </p:sp>
      <p:sp>
        <p:nvSpPr>
          <p:cNvPr id="605" name="s606"/>
          <p:cNvSpPr/>
          <p:nvPr/>
        </p:nvSpPr>
        <p:spPr>
          <a:xfrm>
            <a:off x="1143000" y="3937000"/>
            <a:ext cx="24892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t607"/>
          <p:cNvSpPr txBox="1"/>
          <p:nvPr/>
        </p:nvSpPr>
        <p:spPr>
          <a:xfrm>
            <a:off x="1143000" y="4089400"/>
            <a:ext cx="2540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750"/>
              </a:lnSpc>
            </a:pPr>
            <a:r>
              <a:rPr lang="ko-KR" sz="1250">
                <a:solidFill>
                  <a:srgbClr val="C5D2E6"/>
                </a:solidFill>
              </a:rPr>
              <a:t>별도 자동화 프레임워크 없이 빌드 후 직접 실행하는 수동 테스트 방식으로 전 기능을 검증했다.</a:t>
            </a:r>
          </a:p>
        </p:txBody>
      </p:sp>
      <p:sp>
        <p:nvSpPr>
          <p:cNvPr id="607" name="t608"/>
          <p:cNvSpPr txBox="1"/>
          <p:nvPr/>
        </p:nvSpPr>
        <p:spPr>
          <a:xfrm>
            <a:off x="4267200" y="19050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600" b="1">
                <a:solidFill>
                  <a:srgbClr val="2563B0"/>
                </a:solidFill>
              </a:rPr>
              <a:t>검증 항목 — 전 항목 정상 동작 확인</a:t>
            </a:r>
          </a:p>
        </p:txBody>
      </p:sp>
      <p:sp>
        <p:nvSpPr>
          <p:cNvPr id="608" name="d609"/>
          <p:cNvSpPr/>
          <p:nvPr/>
        </p:nvSpPr>
        <p:spPr>
          <a:xfrm>
            <a:off x="4267200" y="2451100"/>
            <a:ext cx="165100" cy="165100"/>
          </a:xfrm>
          <a:prstGeom prst="ellipse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t610"/>
          <p:cNvSpPr txBox="1"/>
          <p:nvPr/>
        </p:nvSpPr>
        <p:spPr>
          <a:xfrm>
            <a:off x="4572000" y="2413000"/>
            <a:ext cx="30226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450" b="1">
                <a:solidFill>
                  <a:srgbClr val="1B2A4A"/>
                </a:solidFill>
              </a:rPr>
              <a:t>빌드 성공 여부</a:t>
            </a:r>
          </a:p>
          <a:p>
            <a:pPr algn="l">
              <a:lnSpc>
                <a:spcPts val="1450"/>
              </a:lnSpc>
              <a:spcBef>
                <a:spcPts val="200"/>
              </a:spcBef>
            </a:pPr>
            <a:r>
              <a:rPr lang="ko-KR" sz="1200">
                <a:solidFill>
                  <a:srgbClr val="5B6B82"/>
                </a:solidFill>
              </a:rPr>
              <a:t>bash build.sh 실행 후 오류 확인</a:t>
            </a:r>
          </a:p>
        </p:txBody>
      </p:sp>
      <p:sp>
        <p:nvSpPr>
          <p:cNvPr id="610" name="d611"/>
          <p:cNvSpPr/>
          <p:nvPr/>
        </p:nvSpPr>
        <p:spPr>
          <a:xfrm>
            <a:off x="4267200" y="3098800"/>
            <a:ext cx="165100" cy="165100"/>
          </a:xfrm>
          <a:prstGeom prst="ellipse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t612"/>
          <p:cNvSpPr txBox="1"/>
          <p:nvPr/>
        </p:nvSpPr>
        <p:spPr>
          <a:xfrm>
            <a:off x="4572000" y="3060700"/>
            <a:ext cx="30226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450" b="1">
                <a:solidFill>
                  <a:srgbClr val="1B2A4A"/>
                </a:solidFill>
              </a:rPr>
              <a:t>화면 전환</a:t>
            </a:r>
          </a:p>
          <a:p>
            <a:pPr algn="l">
              <a:lnSpc>
                <a:spcPts val="1450"/>
              </a:lnSpc>
              <a:spcBef>
                <a:spcPts val="200"/>
              </a:spcBef>
            </a:pPr>
            <a:r>
              <a:rPr lang="ko-KR" sz="1200">
                <a:solidFill>
                  <a:srgbClr val="5B6B82"/>
                </a:solidFill>
              </a:rPr>
              <a:t>메뉴 버튼 클릭 · 키보드 입력</a:t>
            </a:r>
          </a:p>
        </p:txBody>
      </p:sp>
      <p:sp>
        <p:nvSpPr>
          <p:cNvPr id="612" name="d613"/>
          <p:cNvSpPr/>
          <p:nvPr/>
        </p:nvSpPr>
        <p:spPr>
          <a:xfrm>
            <a:off x="4267200" y="3746500"/>
            <a:ext cx="165100" cy="165100"/>
          </a:xfrm>
          <a:prstGeom prst="ellipse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t614"/>
          <p:cNvSpPr txBox="1"/>
          <p:nvPr/>
        </p:nvSpPr>
        <p:spPr>
          <a:xfrm>
            <a:off x="4572000" y="3708400"/>
            <a:ext cx="30226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450" b="1">
                <a:solidFill>
                  <a:srgbClr val="1B2A4A"/>
                </a:solidFill>
              </a:rPr>
              <a:t>캐릭터 스탯 변화</a:t>
            </a:r>
          </a:p>
          <a:p>
            <a:pPr algn="l">
              <a:lnSpc>
                <a:spcPts val="1450"/>
              </a:lnSpc>
              <a:spcBef>
                <a:spcPts val="200"/>
              </a:spcBef>
            </a:pPr>
            <a:r>
              <a:rPr lang="ko-KR" sz="1200">
                <a:solidFill>
                  <a:srgbClr val="5B6B82"/>
                </a:solidFill>
              </a:rPr>
              <a:t>먹이·목욕·놀기·치료 후 수치</a:t>
            </a:r>
          </a:p>
        </p:txBody>
      </p:sp>
      <p:sp>
        <p:nvSpPr>
          <p:cNvPr id="614" name="d615"/>
          <p:cNvSpPr/>
          <p:nvPr/>
        </p:nvSpPr>
        <p:spPr>
          <a:xfrm>
            <a:off x="4267200" y="4394200"/>
            <a:ext cx="165100" cy="165100"/>
          </a:xfrm>
          <a:prstGeom prst="ellipse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t616"/>
          <p:cNvSpPr txBox="1"/>
          <p:nvPr/>
        </p:nvSpPr>
        <p:spPr>
          <a:xfrm>
            <a:off x="4572000" y="4356100"/>
            <a:ext cx="30226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450" b="1">
                <a:solidFill>
                  <a:srgbClr val="1B2A4A"/>
                </a:solidFill>
              </a:rPr>
              <a:t>전투 시스템</a:t>
            </a:r>
          </a:p>
          <a:p>
            <a:pPr algn="l">
              <a:lnSpc>
                <a:spcPts val="1450"/>
              </a:lnSpc>
              <a:spcBef>
                <a:spcPts val="200"/>
              </a:spcBef>
            </a:pPr>
            <a:r>
              <a:rPr lang="ko-KR" sz="1200">
                <a:solidFill>
                  <a:srgbClr val="5B6B82"/>
                </a:solidFill>
              </a:rPr>
              <a:t>5스테이지 가위바위보 진행</a:t>
            </a:r>
          </a:p>
        </p:txBody>
      </p:sp>
      <p:sp>
        <p:nvSpPr>
          <p:cNvPr id="616" name="d617"/>
          <p:cNvSpPr/>
          <p:nvPr/>
        </p:nvSpPr>
        <p:spPr>
          <a:xfrm>
            <a:off x="4267200" y="5041900"/>
            <a:ext cx="165100" cy="165100"/>
          </a:xfrm>
          <a:prstGeom prst="ellipse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7" name="t618"/>
          <p:cNvSpPr txBox="1"/>
          <p:nvPr/>
        </p:nvSpPr>
        <p:spPr>
          <a:xfrm>
            <a:off x="4572000" y="5003800"/>
            <a:ext cx="30226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450" b="1">
                <a:solidFill>
                  <a:srgbClr val="1B2A4A"/>
                </a:solidFill>
              </a:rPr>
              <a:t>훈련 미니게임 3종</a:t>
            </a:r>
          </a:p>
          <a:p>
            <a:pPr algn="l">
              <a:lnSpc>
                <a:spcPts val="1450"/>
              </a:lnSpc>
              <a:spcBef>
                <a:spcPts val="200"/>
              </a:spcBef>
            </a:pPr>
            <a:r>
              <a:rPr lang="ko-KR" sz="1200">
                <a:solidFill>
                  <a:srgbClr val="5B6B82"/>
                </a:solidFill>
              </a:rPr>
              <a:t>각 게임 후 스탯 획득 확인</a:t>
            </a:r>
          </a:p>
        </p:txBody>
      </p:sp>
      <p:sp>
        <p:nvSpPr>
          <p:cNvPr id="618" name="d619"/>
          <p:cNvSpPr/>
          <p:nvPr/>
        </p:nvSpPr>
        <p:spPr>
          <a:xfrm>
            <a:off x="7874000" y="2451100"/>
            <a:ext cx="165100" cy="165100"/>
          </a:xfrm>
          <a:prstGeom prst="ellipse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9" name="t620"/>
          <p:cNvSpPr txBox="1"/>
          <p:nvPr/>
        </p:nvSpPr>
        <p:spPr>
          <a:xfrm>
            <a:off x="8178800" y="2413000"/>
            <a:ext cx="31750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450" b="1">
                <a:solidFill>
                  <a:srgbClr val="1B2A4A"/>
                </a:solidFill>
              </a:rPr>
              <a:t>장비 강화 성공·실패</a:t>
            </a:r>
          </a:p>
          <a:p>
            <a:pPr algn="l">
              <a:lnSpc>
                <a:spcPts val="1450"/>
              </a:lnSpc>
              <a:spcBef>
                <a:spcPts val="200"/>
              </a:spcBef>
            </a:pPr>
            <a:r>
              <a:rPr lang="ko-KR" sz="1200">
                <a:solidFill>
                  <a:srgbClr val="5B6B82"/>
                </a:solidFill>
              </a:rPr>
              <a:t>검·갑옷 케이스별 확인</a:t>
            </a:r>
          </a:p>
        </p:txBody>
      </p:sp>
      <p:sp>
        <p:nvSpPr>
          <p:cNvPr id="620" name="d621"/>
          <p:cNvSpPr/>
          <p:nvPr/>
        </p:nvSpPr>
        <p:spPr>
          <a:xfrm>
            <a:off x="7874000" y="3098800"/>
            <a:ext cx="165100" cy="165100"/>
          </a:xfrm>
          <a:prstGeom prst="ellipse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1" name="t622"/>
          <p:cNvSpPr txBox="1"/>
          <p:nvPr/>
        </p:nvSpPr>
        <p:spPr>
          <a:xfrm>
            <a:off x="8178800" y="3060700"/>
            <a:ext cx="31750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450" b="1">
                <a:solidFill>
                  <a:srgbClr val="1B2A4A"/>
                </a:solidFill>
              </a:rPr>
              <a:t>아이템 구매·전투 사용</a:t>
            </a:r>
          </a:p>
          <a:p>
            <a:pPr algn="l">
              <a:lnSpc>
                <a:spcPts val="1450"/>
              </a:lnSpc>
              <a:spcBef>
                <a:spcPts val="200"/>
              </a:spcBef>
            </a:pPr>
            <a:r>
              <a:rPr lang="ko-KR" sz="1200">
                <a:solidFill>
                  <a:srgbClr val="5B6B82"/>
                </a:solidFill>
              </a:rPr>
              <a:t>4종 구매 후 전투 중 사용</a:t>
            </a:r>
          </a:p>
        </p:txBody>
      </p:sp>
      <p:sp>
        <p:nvSpPr>
          <p:cNvPr id="622" name="d623"/>
          <p:cNvSpPr/>
          <p:nvPr/>
        </p:nvSpPr>
        <p:spPr>
          <a:xfrm>
            <a:off x="7874000" y="3746500"/>
            <a:ext cx="165100" cy="165100"/>
          </a:xfrm>
          <a:prstGeom prst="ellipse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3" name="t624"/>
          <p:cNvSpPr txBox="1"/>
          <p:nvPr/>
        </p:nvSpPr>
        <p:spPr>
          <a:xfrm>
            <a:off x="8178800" y="3708400"/>
            <a:ext cx="31750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450" b="1">
                <a:solidFill>
                  <a:srgbClr val="1B2A4A"/>
                </a:solidFill>
              </a:rPr>
              <a:t>게임 오버 조건 4종</a:t>
            </a:r>
          </a:p>
          <a:p>
            <a:pPr algn="l">
              <a:lnSpc>
                <a:spcPts val="1450"/>
              </a:lnSpc>
              <a:spcBef>
                <a:spcPts val="200"/>
              </a:spcBef>
            </a:pPr>
            <a:r>
              <a:rPr lang="ko-KR" sz="1200">
                <a:solidFill>
                  <a:srgbClr val="5B6B82"/>
                </a:solidFill>
              </a:rPr>
              <a:t>스탯 극한까지 낮춰 트리거</a:t>
            </a:r>
          </a:p>
        </p:txBody>
      </p:sp>
      <p:sp>
        <p:nvSpPr>
          <p:cNvPr id="624" name="d625"/>
          <p:cNvSpPr/>
          <p:nvPr/>
        </p:nvSpPr>
        <p:spPr>
          <a:xfrm>
            <a:off x="7874000" y="4394200"/>
            <a:ext cx="165100" cy="165100"/>
          </a:xfrm>
          <a:prstGeom prst="ellipse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5" name="t626"/>
          <p:cNvSpPr txBox="1"/>
          <p:nvPr/>
        </p:nvSpPr>
        <p:spPr>
          <a:xfrm>
            <a:off x="8178800" y="4356100"/>
            <a:ext cx="31750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450" b="1">
                <a:solidFill>
                  <a:srgbClr val="1B2A4A"/>
                </a:solidFill>
              </a:rPr>
              <a:t>엔딩 5종</a:t>
            </a:r>
          </a:p>
          <a:p>
            <a:pPr algn="l">
              <a:lnSpc>
                <a:spcPts val="1450"/>
              </a:lnSpc>
              <a:spcBef>
                <a:spcPts val="200"/>
              </a:spcBef>
            </a:pPr>
            <a:r>
              <a:rPr lang="ko-KR" sz="1200">
                <a:solidFill>
                  <a:srgbClr val="5B6B82"/>
                </a:solidFill>
              </a:rPr>
              <a:t>각 조건 달성 후 화면 확인</a:t>
            </a:r>
          </a:p>
        </p:txBody>
      </p:sp>
      <p:sp>
        <p:nvSpPr>
          <p:cNvPr id="626" name="d627"/>
          <p:cNvSpPr/>
          <p:nvPr/>
        </p:nvSpPr>
        <p:spPr>
          <a:xfrm>
            <a:off x="7874000" y="5041900"/>
            <a:ext cx="165100" cy="165100"/>
          </a:xfrm>
          <a:prstGeom prst="ellipse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7" name="t628"/>
          <p:cNvSpPr txBox="1"/>
          <p:nvPr/>
        </p:nvSpPr>
        <p:spPr>
          <a:xfrm>
            <a:off x="8178800" y="5003800"/>
            <a:ext cx="31750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ko-KR" sz="1450" b="1">
                <a:solidFill>
                  <a:srgbClr val="1B2A4A"/>
                </a:solidFill>
              </a:rPr>
              <a:t>UTF-8 / CJK 렌더링</a:t>
            </a:r>
          </a:p>
          <a:p>
            <a:pPr algn="l">
              <a:lnSpc>
                <a:spcPts val="1450"/>
              </a:lnSpc>
              <a:spcBef>
                <a:spcPts val="200"/>
              </a:spcBef>
            </a:pPr>
            <a:r>
              <a:rPr lang="ko-KR" sz="1200">
                <a:solidFill>
                  <a:srgbClr val="5B6B82"/>
                </a:solidFill>
              </a:rPr>
              <a:t>한글·이모지 정렬 확인</a:t>
            </a:r>
          </a:p>
        </p:txBody>
      </p:sp>
    </p:spTree>
    <p:extLst>
      <p:ext uri="{BB962C8B-B14F-4D97-AF65-F5344CB8AC3E}">
        <p14:creationId xmlns:p14="http://schemas.microsoft.com/office/powerpoint/2010/main" val="3083126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7E25F-CEE8-CF5C-E8B9-02F315920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9652000" cy="711200"/>
          </a:xfrm>
        </p:spPr>
        <p:txBody>
          <a:bodyPr wrap="square">
            <a:noAutofit/>
          </a:bodyPr>
          <a:lstStyle/>
          <a:p>
            <a:pPr algn="l"/>
            <a:r>
              <a:rPr lang="ko-KR" sz="3000" b="1">
                <a:solidFill>
                  <a:srgbClr val="1B2A4A"/>
                </a:solidFill>
              </a:rPr>
              <a:t>팀원별 기여</a:t>
            </a:r>
          </a:p>
        </p:txBody>
      </p:sp>
      <p:sp>
        <p:nvSpPr>
          <p:cNvPr id="601" name="t602"/>
          <p:cNvSpPr txBox="1"/>
          <p:nvPr/>
        </p:nvSpPr>
        <p:spPr>
          <a:xfrm>
            <a:off x="1778000" y="1371600"/>
            <a:ext cx="95758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ko-KR" sz="1400">
                <a:solidFill>
                  <a:srgbClr val="5B6B82"/>
                </a:solidFill>
              </a:rPr>
              <a:t>모듈화된 구조로 4인이 독립적으로 기능을 개발하고 Git으로 통합하였다.</a:t>
            </a:r>
          </a:p>
        </p:txBody>
      </p:sp>
      <p:sp>
        <p:nvSpPr>
          <p:cNvPr id="602" name="r603"/>
          <p:cNvSpPr/>
          <p:nvPr/>
        </p:nvSpPr>
        <p:spPr>
          <a:xfrm>
            <a:off x="838200" y="1905000"/>
            <a:ext cx="2476500" cy="39116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r604"/>
          <p:cNvSpPr/>
          <p:nvPr/>
        </p:nvSpPr>
        <p:spPr>
          <a:xfrm>
            <a:off x="838200" y="1905000"/>
            <a:ext cx="2476500" cy="762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e605"/>
          <p:cNvSpPr/>
          <p:nvPr/>
        </p:nvSpPr>
        <p:spPr>
          <a:xfrm>
            <a:off x="1758950" y="2184400"/>
            <a:ext cx="635000" cy="635000"/>
          </a:xfrm>
          <a:prstGeom prst="ellipse">
            <a:avLst/>
          </a:prstGeom>
          <a:solidFill>
            <a:srgbClr val="2563B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2000" b="1">
                <a:solidFill>
                  <a:srgbClr val="FFFFFF"/>
                </a:solidFill>
              </a:rPr>
              <a:t>조</a:t>
            </a:r>
          </a:p>
        </p:txBody>
      </p:sp>
      <p:sp>
        <p:nvSpPr>
          <p:cNvPr id="605" name="t606"/>
          <p:cNvSpPr txBox="1"/>
          <p:nvPr/>
        </p:nvSpPr>
        <p:spPr>
          <a:xfrm>
            <a:off x="990600" y="2946400"/>
            <a:ext cx="21717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ko-KR" sz="1700" b="1">
                <a:solidFill>
                  <a:srgbClr val="1B2A4A"/>
                </a:solidFill>
              </a:rPr>
              <a:t>조광일</a:t>
            </a:r>
          </a:p>
          <a:p>
            <a:pPr algn="ctr">
              <a:spcBef>
                <a:spcPts val="300"/>
              </a:spcBef>
            </a:pPr>
            <a:r>
              <a:rPr lang="ko-KR" sz="1200" b="1">
                <a:solidFill>
                  <a:srgbClr val="2563B0"/>
                </a:solidFill>
              </a:rPr>
              <a:t>게임 엔진 · 입출력</a:t>
            </a:r>
          </a:p>
        </p:txBody>
      </p:sp>
      <p:sp>
        <p:nvSpPr>
          <p:cNvPr id="606" name="r607"/>
          <p:cNvSpPr/>
          <p:nvPr/>
        </p:nvSpPr>
        <p:spPr>
          <a:xfrm>
            <a:off x="1143000" y="3581400"/>
            <a:ext cx="1866900" cy="1524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t608"/>
          <p:cNvSpPr txBox="1"/>
          <p:nvPr/>
        </p:nvSpPr>
        <p:spPr>
          <a:xfrm>
            <a:off x="1041400" y="3733800"/>
            <a:ext cx="20955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42875" indent="-142875">
              <a:lnSpc>
                <a:spcPts val="1500"/>
              </a:lnSpc>
              <a:spcBef>
                <a:spcPts val="500"/>
              </a:spcBef>
              <a:buClr>
                <a:srgbClr val="2563B0"/>
              </a:buClr>
              <a:buFont typeface="Arial"/>
              <a:buChar char="•"/>
            </a:pPr>
            <a:r>
              <a:rPr lang="ko-KR" sz="1200">
                <a:solidFill>
                  <a:srgbClr val="2E3A4F"/>
                </a:solidFill>
              </a:rPr>
              <a:t>termios raw mode 입력 시스템</a:t>
            </a:r>
          </a:p>
          <a:p>
            <a:pPr marL="142875" indent="-142875">
              <a:lnSpc>
                <a:spcPts val="1500"/>
              </a:lnSpc>
              <a:spcBef>
                <a:spcPts val="500"/>
              </a:spcBef>
              <a:buClr>
                <a:srgbClr val="2563B0"/>
              </a:buClr>
              <a:buFont typeface="Arial"/>
              <a:buChar char="•"/>
            </a:pPr>
            <a:r>
              <a:rPr lang="ko-KR" sz="1200">
                <a:solidFill>
                  <a:srgbClr val="2E3A4F"/>
                </a:solidFill>
              </a:rPr>
              <a:t>xterm 마우스 프로토콜 파서</a:t>
            </a:r>
          </a:p>
          <a:p>
            <a:pPr marL="142875" indent="-142875">
              <a:lnSpc>
                <a:spcPts val="1500"/>
              </a:lnSpc>
              <a:spcBef>
                <a:spcPts val="500"/>
              </a:spcBef>
              <a:buClr>
                <a:srgbClr val="2563B0"/>
              </a:buClr>
              <a:buFont typeface="Arial"/>
              <a:buChar char="•"/>
            </a:pPr>
            <a:r>
              <a:rPr lang="ko-KR" sz="1200">
                <a:solidFill>
                  <a:srgbClr val="2E3A4F"/>
                </a:solidFill>
              </a:rPr>
              <a:t>unique_ptr 다형성 화면 관리</a:t>
            </a:r>
          </a:p>
        </p:txBody>
      </p:sp>
      <p:sp>
        <p:nvSpPr>
          <p:cNvPr id="608" name="t609"/>
          <p:cNvSpPr txBox="1"/>
          <p:nvPr/>
        </p:nvSpPr>
        <p:spPr>
          <a:xfrm>
            <a:off x="990600" y="5283200"/>
            <a:ext cx="21717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050" b="1" spc="40">
                <a:solidFill>
                  <a:srgbClr val="2563B0"/>
                </a:solidFill>
              </a:rPr>
              <a:t>추상클래스   ·   다형성   ·   RAII</a:t>
            </a:r>
          </a:p>
        </p:txBody>
      </p:sp>
      <p:sp>
        <p:nvSpPr>
          <p:cNvPr id="609" name="r610"/>
          <p:cNvSpPr/>
          <p:nvPr/>
        </p:nvSpPr>
        <p:spPr>
          <a:xfrm>
            <a:off x="3517900" y="1905000"/>
            <a:ext cx="2476500" cy="39116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r611"/>
          <p:cNvSpPr/>
          <p:nvPr/>
        </p:nvSpPr>
        <p:spPr>
          <a:xfrm>
            <a:off x="3517900" y="1905000"/>
            <a:ext cx="2476500" cy="76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e612"/>
          <p:cNvSpPr/>
          <p:nvPr/>
        </p:nvSpPr>
        <p:spPr>
          <a:xfrm>
            <a:off x="4438650" y="2184400"/>
            <a:ext cx="635000" cy="635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2000" b="1">
                <a:solidFill>
                  <a:srgbClr val="FFFFFF"/>
                </a:solidFill>
              </a:rPr>
              <a:t>김</a:t>
            </a:r>
          </a:p>
        </p:txBody>
      </p:sp>
      <p:sp>
        <p:nvSpPr>
          <p:cNvPr id="612" name="t613"/>
          <p:cNvSpPr txBox="1"/>
          <p:nvPr/>
        </p:nvSpPr>
        <p:spPr>
          <a:xfrm>
            <a:off x="3670300" y="2946400"/>
            <a:ext cx="21717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ko-KR" sz="1700" b="1">
                <a:solidFill>
                  <a:srgbClr val="1B2A4A"/>
                </a:solidFill>
              </a:rPr>
              <a:t>김태현</a:t>
            </a:r>
          </a:p>
          <a:p>
            <a:pPr algn="ctr">
              <a:spcBef>
                <a:spcPts val="300"/>
              </a:spcBef>
            </a:pPr>
            <a:r>
              <a:rPr lang="ko-KR" sz="1200" b="1">
                <a:solidFill>
                  <a:srgbClr val="1B2A4A"/>
                </a:solidFill>
              </a:rPr>
              <a:t>전투 · 장비 로직</a:t>
            </a:r>
          </a:p>
        </p:txBody>
      </p:sp>
      <p:sp>
        <p:nvSpPr>
          <p:cNvPr id="613" name="r614"/>
          <p:cNvSpPr/>
          <p:nvPr/>
        </p:nvSpPr>
        <p:spPr>
          <a:xfrm>
            <a:off x="3822700" y="3581400"/>
            <a:ext cx="1866900" cy="1524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t615"/>
          <p:cNvSpPr txBox="1"/>
          <p:nvPr/>
        </p:nvSpPr>
        <p:spPr>
          <a:xfrm>
            <a:off x="3721100" y="3733800"/>
            <a:ext cx="20955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42875" indent="-142875">
              <a:lnSpc>
                <a:spcPts val="1500"/>
              </a:lnSpc>
              <a:spcBef>
                <a:spcPts val="500"/>
              </a:spcBef>
              <a:buClr>
                <a:srgbClr val="1B2A4A"/>
              </a:buClr>
              <a:buFont typeface="Arial"/>
              <a:buChar char="•"/>
            </a:pPr>
            <a:r>
              <a:rPr lang="ko-KR" sz="1200">
                <a:solidFill>
                  <a:srgbClr val="2E3A4F"/>
                </a:solidFill>
              </a:rPr>
              <a:t>5스테이지 몬스터 + 팩토리</a:t>
            </a:r>
          </a:p>
          <a:p>
            <a:pPr marL="142875" indent="-142875">
              <a:lnSpc>
                <a:spcPts val="1500"/>
              </a:lnSpc>
              <a:spcBef>
                <a:spcPts val="500"/>
              </a:spcBef>
              <a:buClr>
                <a:srgbClr val="1B2A4A"/>
              </a:buClr>
              <a:buFont typeface="Arial"/>
              <a:buChar char="•"/>
            </a:pPr>
            <a:r>
              <a:rPr lang="ko-KR" sz="1200">
                <a:solidFill>
                  <a:srgbClr val="2E3A4F"/>
                </a:solidFill>
              </a:rPr>
              <a:t>가위바위보 전투 알고리즘</a:t>
            </a:r>
          </a:p>
          <a:p>
            <a:pPr marL="142875" indent="-142875">
              <a:lnSpc>
                <a:spcPts val="1500"/>
              </a:lnSpc>
              <a:spcBef>
                <a:spcPts val="500"/>
              </a:spcBef>
              <a:buClr>
                <a:srgbClr val="1B2A4A"/>
              </a:buClr>
              <a:buFont typeface="Arial"/>
              <a:buChar char="•"/>
            </a:pPr>
            <a:r>
              <a:rPr lang="ko-KR" sz="1200">
                <a:solidFill>
                  <a:srgbClr val="2E3A4F"/>
                </a:solidFill>
              </a:rPr>
              <a:t>검·갑옷 5티어 강화 시스템</a:t>
            </a:r>
          </a:p>
        </p:txBody>
      </p:sp>
      <p:sp>
        <p:nvSpPr>
          <p:cNvPr id="615" name="t616"/>
          <p:cNvSpPr txBox="1"/>
          <p:nvPr/>
        </p:nvSpPr>
        <p:spPr>
          <a:xfrm>
            <a:off x="3670300" y="5283200"/>
            <a:ext cx="21717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050" b="1" spc="40">
                <a:solidFill>
                  <a:srgbClr val="1B2A4A"/>
                </a:solidFill>
              </a:rPr>
              <a:t>상속·오버라이딩   ·   상태머신</a:t>
            </a:r>
          </a:p>
        </p:txBody>
      </p:sp>
      <p:sp>
        <p:nvSpPr>
          <p:cNvPr id="616" name="r617"/>
          <p:cNvSpPr/>
          <p:nvPr/>
        </p:nvSpPr>
        <p:spPr>
          <a:xfrm>
            <a:off x="6197600" y="1905000"/>
            <a:ext cx="2476500" cy="39116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7" name="r618"/>
          <p:cNvSpPr/>
          <p:nvPr/>
        </p:nvSpPr>
        <p:spPr>
          <a:xfrm>
            <a:off x="6197600" y="1905000"/>
            <a:ext cx="2476500" cy="76200"/>
          </a:xfrm>
          <a:prstGeom prst="rect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8" name="e619"/>
          <p:cNvSpPr/>
          <p:nvPr/>
        </p:nvSpPr>
        <p:spPr>
          <a:xfrm>
            <a:off x="7118350" y="2184400"/>
            <a:ext cx="635000" cy="635000"/>
          </a:xfrm>
          <a:prstGeom prst="ellipse">
            <a:avLst/>
          </a:prstGeom>
          <a:solidFill>
            <a:srgbClr val="3E8E7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2000" b="1">
                <a:solidFill>
                  <a:srgbClr val="FFFFFF"/>
                </a:solidFill>
              </a:rPr>
              <a:t>이</a:t>
            </a:r>
          </a:p>
        </p:txBody>
      </p:sp>
      <p:sp>
        <p:nvSpPr>
          <p:cNvPr id="619" name="t620"/>
          <p:cNvSpPr txBox="1"/>
          <p:nvPr/>
        </p:nvSpPr>
        <p:spPr>
          <a:xfrm>
            <a:off x="6350000" y="2946400"/>
            <a:ext cx="21717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ko-KR" sz="1700" b="1">
                <a:solidFill>
                  <a:srgbClr val="1B2A4A"/>
                </a:solidFill>
              </a:rPr>
              <a:t>이현빈</a:t>
            </a:r>
          </a:p>
          <a:p>
            <a:pPr algn="ctr">
              <a:spcBef>
                <a:spcPts val="300"/>
              </a:spcBef>
            </a:pPr>
            <a:r>
              <a:rPr lang="ko-KR" sz="1200" b="1">
                <a:solidFill>
                  <a:srgbClr val="3E8E7E"/>
                </a:solidFill>
              </a:rPr>
              <a:t>훈련 · 캐릭터 디자인</a:t>
            </a:r>
          </a:p>
        </p:txBody>
      </p:sp>
      <p:sp>
        <p:nvSpPr>
          <p:cNvPr id="620" name="r621"/>
          <p:cNvSpPr/>
          <p:nvPr/>
        </p:nvSpPr>
        <p:spPr>
          <a:xfrm>
            <a:off x="6502400" y="3581400"/>
            <a:ext cx="1866900" cy="1524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1" name="t622"/>
          <p:cNvSpPr txBox="1"/>
          <p:nvPr/>
        </p:nvSpPr>
        <p:spPr>
          <a:xfrm>
            <a:off x="6400800" y="3733800"/>
            <a:ext cx="20955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42875" indent="-142875">
              <a:lnSpc>
                <a:spcPts val="1500"/>
              </a:lnSpc>
              <a:spcBef>
                <a:spcPts val="500"/>
              </a:spcBef>
              <a:buClr>
                <a:srgbClr val="3E8E7E"/>
              </a:buClr>
              <a:buFont typeface="Arial"/>
              <a:buChar char="•"/>
            </a:pPr>
            <a:r>
              <a:rPr lang="ko-KR" sz="1200">
                <a:solidFill>
                  <a:srgbClr val="2E3A4F"/>
                </a:solidFill>
              </a:rPr>
              <a:t>미니게임 3종 구현</a:t>
            </a:r>
          </a:p>
          <a:p>
            <a:pPr marL="142875" indent="-142875">
              <a:lnSpc>
                <a:spcPts val="1500"/>
              </a:lnSpc>
              <a:spcBef>
                <a:spcPts val="500"/>
              </a:spcBef>
              <a:buClr>
                <a:srgbClr val="3E8E7E"/>
              </a:buClr>
              <a:buFont typeface="Arial"/>
              <a:buChar char="•"/>
            </a:pPr>
            <a:r>
              <a:rPr lang="ko-KR" sz="1200">
                <a:solidFill>
                  <a:srgbClr val="2E3A4F"/>
                </a:solidFill>
              </a:rPr>
              <a:t>ASCII 아트 캐릭터 디자인</a:t>
            </a:r>
          </a:p>
          <a:p>
            <a:pPr marL="142875" indent="-142875">
              <a:lnSpc>
                <a:spcPts val="1500"/>
              </a:lnSpc>
              <a:spcBef>
                <a:spcPts val="500"/>
              </a:spcBef>
              <a:buClr>
                <a:srgbClr val="3E8E7E"/>
              </a:buClr>
              <a:buFont typeface="Arial"/>
              <a:buChar char="•"/>
            </a:pPr>
            <a:r>
              <a:rPr lang="ko-KR" sz="1200">
                <a:solidFill>
                  <a:srgbClr val="2E3A4F"/>
                </a:solidFill>
              </a:rPr>
              <a:t>진행 바 · 논블로킹 타이머</a:t>
            </a:r>
          </a:p>
        </p:txBody>
      </p:sp>
      <p:sp>
        <p:nvSpPr>
          <p:cNvPr id="622" name="t623"/>
          <p:cNvSpPr txBox="1"/>
          <p:nvPr/>
        </p:nvSpPr>
        <p:spPr>
          <a:xfrm>
            <a:off x="6350000" y="5283200"/>
            <a:ext cx="21717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050" b="1" spc="40">
                <a:solidFill>
                  <a:srgbClr val="3E8E7E"/>
                </a:solidFill>
              </a:rPr>
              <a:t>상태머신   ·   chrono   ·   ASCII</a:t>
            </a:r>
          </a:p>
        </p:txBody>
      </p:sp>
      <p:sp>
        <p:nvSpPr>
          <p:cNvPr id="623" name="r624"/>
          <p:cNvSpPr/>
          <p:nvPr/>
        </p:nvSpPr>
        <p:spPr>
          <a:xfrm>
            <a:off x="8877300" y="1905000"/>
            <a:ext cx="2476500" cy="39116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4" name="r625"/>
          <p:cNvSpPr/>
          <p:nvPr/>
        </p:nvSpPr>
        <p:spPr>
          <a:xfrm>
            <a:off x="8877300" y="1905000"/>
            <a:ext cx="2476500" cy="76200"/>
          </a:xfrm>
          <a:prstGeom prst="rect">
            <a:avLst/>
          </a:prstGeom>
          <a:solidFill>
            <a:srgbClr val="5B8F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5" name="e626"/>
          <p:cNvSpPr/>
          <p:nvPr/>
        </p:nvSpPr>
        <p:spPr>
          <a:xfrm>
            <a:off x="9798050" y="2184400"/>
            <a:ext cx="635000" cy="635000"/>
          </a:xfrm>
          <a:prstGeom prst="ellipse">
            <a:avLst/>
          </a:prstGeom>
          <a:solidFill>
            <a:srgbClr val="5B8FD4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2000" b="1">
                <a:solidFill>
                  <a:srgbClr val="FFFFFF"/>
                </a:solidFill>
              </a:rPr>
              <a:t>정</a:t>
            </a:r>
          </a:p>
        </p:txBody>
      </p:sp>
      <p:sp>
        <p:nvSpPr>
          <p:cNvPr id="626" name="t627"/>
          <p:cNvSpPr txBox="1"/>
          <p:nvPr/>
        </p:nvSpPr>
        <p:spPr>
          <a:xfrm>
            <a:off x="9029700" y="2946400"/>
            <a:ext cx="2171700" cy="584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ko-KR" sz="1700" b="1">
                <a:solidFill>
                  <a:srgbClr val="1B2A4A"/>
                </a:solidFill>
              </a:rPr>
              <a:t>정주연</a:t>
            </a:r>
          </a:p>
          <a:p>
            <a:pPr algn="ctr">
              <a:spcBef>
                <a:spcPts val="300"/>
              </a:spcBef>
            </a:pPr>
            <a:r>
              <a:rPr lang="ko-KR" sz="1200" b="1">
                <a:solidFill>
                  <a:srgbClr val="5B8FD4"/>
                </a:solidFill>
              </a:rPr>
              <a:t>육성 로직</a:t>
            </a:r>
          </a:p>
        </p:txBody>
      </p:sp>
      <p:sp>
        <p:nvSpPr>
          <p:cNvPr id="627" name="r628"/>
          <p:cNvSpPr/>
          <p:nvPr/>
        </p:nvSpPr>
        <p:spPr>
          <a:xfrm>
            <a:off x="9182100" y="3581400"/>
            <a:ext cx="1866900" cy="1524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8" name="t629"/>
          <p:cNvSpPr txBox="1"/>
          <p:nvPr/>
        </p:nvSpPr>
        <p:spPr>
          <a:xfrm>
            <a:off x="9080500" y="3733800"/>
            <a:ext cx="20955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42875" indent="-142875">
              <a:lnSpc>
                <a:spcPts val="1500"/>
              </a:lnSpc>
              <a:spcBef>
                <a:spcPts val="500"/>
              </a:spcBef>
              <a:buClr>
                <a:srgbClr val="5B8FD4"/>
              </a:buClr>
              <a:buFont typeface="Arial"/>
              <a:buChar char="•"/>
            </a:pPr>
            <a:r>
              <a:rPr lang="ko-KR" sz="1200">
                <a:solidFill>
                  <a:srgbClr val="2E3A4F"/>
                </a:solidFill>
              </a:rPr>
              <a:t>육성·전투 스탯 구조 설계</a:t>
            </a:r>
          </a:p>
          <a:p>
            <a:pPr marL="142875" indent="-142875">
              <a:lnSpc>
                <a:spcPts val="1500"/>
              </a:lnSpc>
              <a:spcBef>
                <a:spcPts val="500"/>
              </a:spcBef>
              <a:buClr>
                <a:srgbClr val="5B8FD4"/>
              </a:buClr>
              <a:buFont typeface="Arial"/>
              <a:buChar char="•"/>
            </a:pPr>
            <a:r>
              <a:rPr lang="ko-KR" sz="1200">
                <a:solidFill>
                  <a:srgbClr val="2E3A4F"/>
                </a:solidFill>
              </a:rPr>
              <a:t>액션 · afterBattle 시스템</a:t>
            </a:r>
          </a:p>
          <a:p>
            <a:pPr marL="142875" indent="-142875">
              <a:lnSpc>
                <a:spcPts val="1500"/>
              </a:lnSpc>
              <a:spcBef>
                <a:spcPts val="500"/>
              </a:spcBef>
              <a:buClr>
                <a:srgbClr val="5B8FD4"/>
              </a:buClr>
              <a:buFont typeface="Arial"/>
              <a:buChar char="•"/>
            </a:pPr>
            <a:r>
              <a:rPr lang="ko-KR" sz="1200">
                <a:solidFill>
                  <a:srgbClr val="2E3A4F"/>
                </a:solidFill>
              </a:rPr>
              <a:t>Renderer + UTF-8/CJK 계산</a:t>
            </a:r>
          </a:p>
        </p:txBody>
      </p:sp>
      <p:sp>
        <p:nvSpPr>
          <p:cNvPr id="629" name="t630"/>
          <p:cNvSpPr txBox="1"/>
          <p:nvPr/>
        </p:nvSpPr>
        <p:spPr>
          <a:xfrm>
            <a:off x="9029700" y="5283200"/>
            <a:ext cx="21717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sz="1050" b="1" spc="40">
                <a:solidFill>
                  <a:srgbClr val="5B8FD4"/>
                </a:solidFill>
              </a:rPr>
              <a:t>캡슐화   ·   정적클래스   ·   UTF-8</a:t>
            </a:r>
          </a:p>
        </p:txBody>
      </p:sp>
    </p:spTree>
    <p:extLst>
      <p:ext uri="{BB962C8B-B14F-4D97-AF65-F5344CB8AC3E}">
        <p14:creationId xmlns:p14="http://schemas.microsoft.com/office/powerpoint/2010/main" val="3043291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474F1-B5AA-13D5-88BF-438177F91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0"/>
            <a:ext cx="9652000" cy="711200"/>
          </a:xfrm>
        </p:spPr>
        <p:txBody>
          <a:bodyPr wrap="square">
            <a:noAutofit/>
          </a:bodyPr>
          <a:lstStyle/>
          <a:p>
            <a:pPr algn="l">
              <a:buNone/>
            </a:pPr>
            <a:r>
              <a:rPr lang="ko-KR" sz="3000" b="1" dirty="0">
                <a:solidFill>
                  <a:srgbClr val="1B2A4A"/>
                </a:solidFill>
              </a:rPr>
              <a:t>결론 및 기대효과</a:t>
            </a:r>
          </a:p>
        </p:txBody>
      </p:sp>
      <p:sp>
        <p:nvSpPr>
          <p:cNvPr id="601" name="r602"/>
          <p:cNvSpPr/>
          <p:nvPr/>
        </p:nvSpPr>
        <p:spPr>
          <a:xfrm>
            <a:off x="9194800" y="584200"/>
            <a:ext cx="2159000" cy="381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t603"/>
          <p:cNvSpPr txBox="1"/>
          <p:nvPr/>
        </p:nvSpPr>
        <p:spPr>
          <a:xfrm>
            <a:off x="9194800" y="584200"/>
            <a:ext cx="2159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50" b="1" dirty="0">
                <a:solidFill>
                  <a:srgbClr val="FFFFFF"/>
                </a:solidFill>
              </a:rPr>
              <a:t>객체지향 프로그래밍 · 6조</a:t>
            </a:r>
          </a:p>
        </p:txBody>
      </p:sp>
      <p:sp>
        <p:nvSpPr>
          <p:cNvPr id="603" name="r604"/>
          <p:cNvSpPr/>
          <p:nvPr/>
        </p:nvSpPr>
        <p:spPr>
          <a:xfrm>
            <a:off x="838200" y="1905000"/>
            <a:ext cx="3810000" cy="39624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t605"/>
          <p:cNvSpPr txBox="1"/>
          <p:nvPr/>
        </p:nvSpPr>
        <p:spPr>
          <a:xfrm>
            <a:off x="1143000" y="2159000"/>
            <a:ext cx="3200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sz="1100" b="1" spc="160">
                <a:solidFill>
                  <a:srgbClr val="C9A227"/>
                </a:solidFill>
              </a:rPr>
              <a:t>PROJECT COMPLETE</a:t>
            </a:r>
          </a:p>
        </p:txBody>
      </p:sp>
      <p:sp>
        <p:nvSpPr>
          <p:cNvPr id="605" name="t606"/>
          <p:cNvSpPr txBox="1"/>
          <p:nvPr/>
        </p:nvSpPr>
        <p:spPr>
          <a:xfrm>
            <a:off x="1117600" y="2413000"/>
            <a:ext cx="3251200" cy="812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sz="4400" b="1">
                <a:solidFill>
                  <a:srgbClr val="FFFFFF"/>
                </a:solidFill>
              </a:rPr>
              <a:t>9 / 9</a:t>
            </a:r>
          </a:p>
        </p:txBody>
      </p:sp>
      <p:sp>
        <p:nvSpPr>
          <p:cNvPr id="606" name="t607"/>
          <p:cNvSpPr txBox="1"/>
          <p:nvPr/>
        </p:nvSpPr>
        <p:spPr>
          <a:xfrm>
            <a:off x="1143000" y="3225800"/>
            <a:ext cx="32004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sz="1450">
                <a:solidFill>
                  <a:srgbClr val="FFFFFF"/>
                </a:solidFill>
              </a:rPr>
              <a:t>핵심 기능 전부 구현 완료</a:t>
            </a:r>
          </a:p>
        </p:txBody>
      </p:sp>
      <p:sp>
        <p:nvSpPr>
          <p:cNvPr id="607" name="r608"/>
          <p:cNvSpPr/>
          <p:nvPr/>
        </p:nvSpPr>
        <p:spPr>
          <a:xfrm>
            <a:off x="1143000" y="3632200"/>
            <a:ext cx="3200400" cy="15240"/>
          </a:xfrm>
          <a:prstGeom prst="rect">
            <a:avLst/>
          </a:prstGeom>
          <a:solidFill>
            <a:srgbClr val="3C51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r609"/>
          <p:cNvSpPr/>
          <p:nvPr/>
        </p:nvSpPr>
        <p:spPr>
          <a:xfrm>
            <a:off x="1143000" y="3779973"/>
            <a:ext cx="88900" cy="889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t610"/>
          <p:cNvSpPr txBox="1"/>
          <p:nvPr/>
        </p:nvSpPr>
        <p:spPr>
          <a:xfrm>
            <a:off x="1320800" y="3742768"/>
            <a:ext cx="3022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300"/>
              </a:lnSpc>
              <a:buNone/>
            </a:pPr>
            <a:r>
              <a:rPr lang="ko-KR" sz="1050" dirty="0">
                <a:solidFill>
                  <a:srgbClr val="E7EDF6"/>
                </a:solidFill>
              </a:rPr>
              <a:t>캐릭터 육성 시스템</a:t>
            </a:r>
          </a:p>
        </p:txBody>
      </p:sp>
      <p:sp>
        <p:nvSpPr>
          <p:cNvPr id="610" name="r611"/>
          <p:cNvSpPr/>
          <p:nvPr/>
        </p:nvSpPr>
        <p:spPr>
          <a:xfrm>
            <a:off x="1143000" y="4008573"/>
            <a:ext cx="88900" cy="889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t612"/>
          <p:cNvSpPr txBox="1"/>
          <p:nvPr/>
        </p:nvSpPr>
        <p:spPr>
          <a:xfrm>
            <a:off x="1320800" y="3971368"/>
            <a:ext cx="3022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300"/>
              </a:lnSpc>
              <a:buNone/>
            </a:pPr>
            <a:r>
              <a:rPr lang="ko-KR" sz="1050" dirty="0">
                <a:solidFill>
                  <a:srgbClr val="E7EDF6"/>
                </a:solidFill>
              </a:rPr>
              <a:t>전투 시스템 (5스테이지)</a:t>
            </a:r>
          </a:p>
        </p:txBody>
      </p:sp>
      <p:sp>
        <p:nvSpPr>
          <p:cNvPr id="612" name="r613"/>
          <p:cNvSpPr/>
          <p:nvPr/>
        </p:nvSpPr>
        <p:spPr>
          <a:xfrm>
            <a:off x="1143000" y="4237173"/>
            <a:ext cx="88900" cy="889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t614"/>
          <p:cNvSpPr txBox="1"/>
          <p:nvPr/>
        </p:nvSpPr>
        <p:spPr>
          <a:xfrm>
            <a:off x="1320800" y="4199968"/>
            <a:ext cx="3022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300"/>
              </a:lnSpc>
              <a:buNone/>
            </a:pPr>
            <a:r>
              <a:rPr lang="ko-KR" sz="1050">
                <a:solidFill>
                  <a:srgbClr val="E7EDF6"/>
                </a:solidFill>
              </a:rPr>
              <a:t>훈련 미니게임 3종</a:t>
            </a:r>
          </a:p>
        </p:txBody>
      </p:sp>
      <p:sp>
        <p:nvSpPr>
          <p:cNvPr id="614" name="r615"/>
          <p:cNvSpPr/>
          <p:nvPr/>
        </p:nvSpPr>
        <p:spPr>
          <a:xfrm>
            <a:off x="1143000" y="4465773"/>
            <a:ext cx="88900" cy="889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t616"/>
          <p:cNvSpPr txBox="1"/>
          <p:nvPr/>
        </p:nvSpPr>
        <p:spPr>
          <a:xfrm>
            <a:off x="1320800" y="4428568"/>
            <a:ext cx="3022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300"/>
              </a:lnSpc>
              <a:buNone/>
            </a:pPr>
            <a:r>
              <a:rPr lang="ko-KR" sz="1050">
                <a:solidFill>
                  <a:srgbClr val="E7EDF6"/>
                </a:solidFill>
              </a:rPr>
              <a:t>장비 강화 (검·갑옷 5티어)</a:t>
            </a:r>
          </a:p>
        </p:txBody>
      </p:sp>
      <p:sp>
        <p:nvSpPr>
          <p:cNvPr id="616" name="r617"/>
          <p:cNvSpPr/>
          <p:nvPr/>
        </p:nvSpPr>
        <p:spPr>
          <a:xfrm>
            <a:off x="1143000" y="4694373"/>
            <a:ext cx="88900" cy="889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7" name="t618"/>
          <p:cNvSpPr txBox="1"/>
          <p:nvPr/>
        </p:nvSpPr>
        <p:spPr>
          <a:xfrm>
            <a:off x="1320800" y="4657168"/>
            <a:ext cx="3022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300"/>
              </a:lnSpc>
              <a:buNone/>
            </a:pPr>
            <a:r>
              <a:rPr lang="ko-KR" sz="1050">
                <a:solidFill>
                  <a:srgbClr val="E7EDF6"/>
                </a:solidFill>
              </a:rPr>
              <a:t>아이템 시스템 4종</a:t>
            </a:r>
          </a:p>
        </p:txBody>
      </p:sp>
      <p:sp>
        <p:nvSpPr>
          <p:cNvPr id="618" name="r619"/>
          <p:cNvSpPr/>
          <p:nvPr/>
        </p:nvSpPr>
        <p:spPr>
          <a:xfrm>
            <a:off x="1143000" y="4922973"/>
            <a:ext cx="88900" cy="889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9" name="t620"/>
          <p:cNvSpPr txBox="1"/>
          <p:nvPr/>
        </p:nvSpPr>
        <p:spPr>
          <a:xfrm>
            <a:off x="1320800" y="4885768"/>
            <a:ext cx="3022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300"/>
              </a:lnSpc>
              <a:buNone/>
            </a:pPr>
            <a:r>
              <a:rPr lang="ko-KR" sz="1050">
                <a:solidFill>
                  <a:srgbClr val="E7EDF6"/>
                </a:solidFill>
              </a:rPr>
              <a:t>통합 마우스 입력 (xterm)</a:t>
            </a:r>
          </a:p>
        </p:txBody>
      </p:sp>
      <p:sp>
        <p:nvSpPr>
          <p:cNvPr id="620" name="r621"/>
          <p:cNvSpPr/>
          <p:nvPr/>
        </p:nvSpPr>
        <p:spPr>
          <a:xfrm>
            <a:off x="1143000" y="5151573"/>
            <a:ext cx="88900" cy="889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1" name="t622"/>
          <p:cNvSpPr txBox="1"/>
          <p:nvPr/>
        </p:nvSpPr>
        <p:spPr>
          <a:xfrm>
            <a:off x="1320800" y="5114368"/>
            <a:ext cx="3022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300"/>
              </a:lnSpc>
              <a:buNone/>
            </a:pPr>
            <a:r>
              <a:rPr lang="ko-KR" sz="1050">
                <a:solidFill>
                  <a:srgbClr val="E7EDF6"/>
                </a:solidFill>
              </a:rPr>
              <a:t>ANSI 색상 · ASCII 렌더링</a:t>
            </a:r>
          </a:p>
        </p:txBody>
      </p:sp>
      <p:sp>
        <p:nvSpPr>
          <p:cNvPr id="622" name="r623"/>
          <p:cNvSpPr/>
          <p:nvPr/>
        </p:nvSpPr>
        <p:spPr>
          <a:xfrm>
            <a:off x="1143000" y="5380173"/>
            <a:ext cx="88900" cy="889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3" name="t624"/>
          <p:cNvSpPr txBox="1"/>
          <p:nvPr/>
        </p:nvSpPr>
        <p:spPr>
          <a:xfrm>
            <a:off x="1320800" y="5342968"/>
            <a:ext cx="3022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300"/>
              </a:lnSpc>
              <a:buNone/>
            </a:pPr>
            <a:r>
              <a:rPr lang="ko-KR" sz="1050">
                <a:solidFill>
                  <a:srgbClr val="E7EDF6"/>
                </a:solidFill>
              </a:rPr>
              <a:t>엔딩 5종</a:t>
            </a:r>
          </a:p>
        </p:txBody>
      </p:sp>
      <p:sp>
        <p:nvSpPr>
          <p:cNvPr id="624" name="r625"/>
          <p:cNvSpPr/>
          <p:nvPr/>
        </p:nvSpPr>
        <p:spPr>
          <a:xfrm>
            <a:off x="1143000" y="5608773"/>
            <a:ext cx="88900" cy="889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5" name="t626"/>
          <p:cNvSpPr txBox="1"/>
          <p:nvPr/>
        </p:nvSpPr>
        <p:spPr>
          <a:xfrm>
            <a:off x="1320800" y="5571568"/>
            <a:ext cx="3022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300"/>
              </a:lnSpc>
              <a:buNone/>
            </a:pPr>
            <a:r>
              <a:rPr lang="ko-KR" sz="1050">
                <a:solidFill>
                  <a:srgbClr val="E7EDF6"/>
                </a:solidFill>
              </a:rPr>
              <a:t>UTF-8 / CJK 렌더링</a:t>
            </a:r>
          </a:p>
        </p:txBody>
      </p:sp>
      <p:sp>
        <p:nvSpPr>
          <p:cNvPr id="626" name="t627"/>
          <p:cNvSpPr txBox="1"/>
          <p:nvPr/>
        </p:nvSpPr>
        <p:spPr>
          <a:xfrm>
            <a:off x="5003800" y="1905000"/>
            <a:ext cx="635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sz="1600" b="1">
                <a:solidFill>
                  <a:srgbClr val="1B2A4A"/>
                </a:solidFill>
              </a:rPr>
              <a:t>기대효과 &amp; 활용방안</a:t>
            </a:r>
          </a:p>
        </p:txBody>
      </p:sp>
      <p:sp>
        <p:nvSpPr>
          <p:cNvPr id="627" name="r628"/>
          <p:cNvSpPr/>
          <p:nvPr/>
        </p:nvSpPr>
        <p:spPr>
          <a:xfrm>
            <a:off x="5003800" y="2362200"/>
            <a:ext cx="3073400" cy="10668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8" name="r629"/>
          <p:cNvSpPr/>
          <p:nvPr/>
        </p:nvSpPr>
        <p:spPr>
          <a:xfrm>
            <a:off x="5003800" y="2362200"/>
            <a:ext cx="44450" cy="10668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9" name="t630"/>
          <p:cNvSpPr txBox="1"/>
          <p:nvPr/>
        </p:nvSpPr>
        <p:spPr>
          <a:xfrm>
            <a:off x="5207000" y="2514600"/>
            <a:ext cx="2717800" cy="812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  <a:buNone/>
            </a:pPr>
            <a:r>
              <a:rPr lang="ko-KR" sz="1400" b="1" dirty="0">
                <a:solidFill>
                  <a:srgbClr val="1B2A4A"/>
                </a:solidFill>
              </a:rPr>
              <a:t>추상 · 상속 · </a:t>
            </a:r>
            <a:r>
              <a:rPr lang="ko-KR" sz="1400" b="1" dirty="0" err="1">
                <a:solidFill>
                  <a:srgbClr val="1B2A4A"/>
                </a:solidFill>
              </a:rPr>
              <a:t>다형성</a:t>
            </a:r>
            <a:endParaRPr lang="en-US" altLang="ko-KR" sz="400" b="1" dirty="0">
              <a:solidFill>
                <a:srgbClr val="45526A"/>
              </a:solidFill>
            </a:endParaRPr>
          </a:p>
          <a:p>
            <a:pPr algn="l">
              <a:lnSpc>
                <a:spcPts val="1500"/>
              </a:lnSpc>
              <a:buNone/>
            </a:pPr>
            <a:endParaRPr lang="en-US" altLang="ko-KR" sz="1100" dirty="0">
              <a:solidFill>
                <a:srgbClr val="45526A"/>
              </a:solidFill>
            </a:endParaRPr>
          </a:p>
          <a:p>
            <a:pPr algn="l">
              <a:lnSpc>
                <a:spcPts val="1450"/>
              </a:lnSpc>
              <a:spcBef>
                <a:spcPts val="300"/>
              </a:spcBef>
              <a:buNone/>
            </a:pPr>
            <a:r>
              <a:rPr lang="ko-KR" sz="1100" dirty="0">
                <a:solidFill>
                  <a:srgbClr val="45526A"/>
                </a:solidFill>
              </a:rPr>
              <a:t>추상 </a:t>
            </a:r>
            <a:r>
              <a:rPr lang="ko-KR" sz="1100" dirty="0" err="1">
                <a:solidFill>
                  <a:srgbClr val="45526A"/>
                </a:solidFill>
              </a:rPr>
              <a:t>Screen</a:t>
            </a:r>
            <a:r>
              <a:rPr lang="ko-KR" sz="1100" dirty="0">
                <a:solidFill>
                  <a:srgbClr val="45526A"/>
                </a:solidFill>
              </a:rPr>
              <a:t> 중심으로 8개 화면을 코드 중복 없이 다형성으로 운영하는 구조 완성</a:t>
            </a:r>
          </a:p>
        </p:txBody>
      </p:sp>
      <p:sp>
        <p:nvSpPr>
          <p:cNvPr id="630" name="r631"/>
          <p:cNvSpPr/>
          <p:nvPr/>
        </p:nvSpPr>
        <p:spPr>
          <a:xfrm>
            <a:off x="8280400" y="2362200"/>
            <a:ext cx="3073400" cy="10668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1" name="r632"/>
          <p:cNvSpPr/>
          <p:nvPr/>
        </p:nvSpPr>
        <p:spPr>
          <a:xfrm>
            <a:off x="8280400" y="2362200"/>
            <a:ext cx="44450" cy="1066800"/>
          </a:xfrm>
          <a:prstGeom prst="rect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t633"/>
          <p:cNvSpPr txBox="1"/>
          <p:nvPr/>
        </p:nvSpPr>
        <p:spPr>
          <a:xfrm>
            <a:off x="8483600" y="2514600"/>
            <a:ext cx="2717800" cy="812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  <a:buNone/>
            </a:pPr>
            <a:r>
              <a:rPr lang="ko-KR" sz="1400" b="1" dirty="0" err="1">
                <a:solidFill>
                  <a:srgbClr val="1B2A4A"/>
                </a:solidFill>
              </a:rPr>
              <a:t>저수준</a:t>
            </a:r>
            <a:r>
              <a:rPr lang="ko-KR" sz="1400" b="1" dirty="0">
                <a:solidFill>
                  <a:srgbClr val="1B2A4A"/>
                </a:solidFill>
              </a:rPr>
              <a:t> 시스템 프로그래밍</a:t>
            </a:r>
          </a:p>
          <a:p>
            <a:pPr algn="l">
              <a:lnSpc>
                <a:spcPts val="1450"/>
              </a:lnSpc>
              <a:spcBef>
                <a:spcPts val="300"/>
              </a:spcBef>
              <a:buNone/>
            </a:pPr>
            <a:endParaRPr lang="en-US" altLang="ko-KR" sz="1100" dirty="0">
              <a:solidFill>
                <a:srgbClr val="45526A"/>
              </a:solidFill>
            </a:endParaRPr>
          </a:p>
          <a:p>
            <a:pPr algn="l">
              <a:lnSpc>
                <a:spcPts val="1450"/>
              </a:lnSpc>
              <a:spcBef>
                <a:spcPts val="300"/>
              </a:spcBef>
              <a:buNone/>
            </a:pPr>
            <a:r>
              <a:rPr lang="ko-KR" sz="1100" dirty="0" err="1">
                <a:solidFill>
                  <a:srgbClr val="45526A"/>
                </a:solidFill>
              </a:rPr>
              <a:t>termios</a:t>
            </a:r>
            <a:r>
              <a:rPr lang="ko-KR" sz="1100" dirty="0">
                <a:solidFill>
                  <a:srgbClr val="45526A"/>
                </a:solidFill>
              </a:rPr>
              <a:t> · ANSI </a:t>
            </a:r>
            <a:r>
              <a:rPr lang="ko-KR" sz="1100" dirty="0" err="1">
                <a:solidFill>
                  <a:srgbClr val="45526A"/>
                </a:solidFill>
              </a:rPr>
              <a:t>Escape</a:t>
            </a:r>
            <a:r>
              <a:rPr lang="ko-KR" sz="1100" dirty="0">
                <a:solidFill>
                  <a:srgbClr val="45526A"/>
                </a:solidFill>
              </a:rPr>
              <a:t> · </a:t>
            </a:r>
            <a:r>
              <a:rPr lang="ko-KR" sz="1100" dirty="0" err="1">
                <a:solidFill>
                  <a:srgbClr val="45526A"/>
                </a:solidFill>
              </a:rPr>
              <a:t>xterm</a:t>
            </a:r>
            <a:r>
              <a:rPr lang="ko-KR" sz="1100" dirty="0">
                <a:solidFill>
                  <a:srgbClr val="45526A"/>
                </a:solidFill>
              </a:rPr>
              <a:t> 마우스 프로토콜을 </a:t>
            </a:r>
            <a:r>
              <a:rPr lang="ko-KR" sz="1100" dirty="0" err="1">
                <a:solidFill>
                  <a:srgbClr val="45526A"/>
                </a:solidFill>
              </a:rPr>
              <a:t>OS·터미널</a:t>
            </a:r>
            <a:r>
              <a:rPr lang="ko-KR" sz="1100" dirty="0">
                <a:solidFill>
                  <a:srgbClr val="45526A"/>
                </a:solidFill>
              </a:rPr>
              <a:t> 수준에서 직접 구현</a:t>
            </a:r>
          </a:p>
        </p:txBody>
      </p:sp>
      <p:sp>
        <p:nvSpPr>
          <p:cNvPr id="633" name="r634"/>
          <p:cNvSpPr/>
          <p:nvPr/>
        </p:nvSpPr>
        <p:spPr>
          <a:xfrm>
            <a:off x="5003800" y="3530600"/>
            <a:ext cx="3073400" cy="10668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r635"/>
          <p:cNvSpPr/>
          <p:nvPr/>
        </p:nvSpPr>
        <p:spPr>
          <a:xfrm>
            <a:off x="5003800" y="3530600"/>
            <a:ext cx="44450" cy="10668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t636"/>
          <p:cNvSpPr txBox="1"/>
          <p:nvPr/>
        </p:nvSpPr>
        <p:spPr>
          <a:xfrm>
            <a:off x="5207000" y="3683000"/>
            <a:ext cx="2717800" cy="812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  <a:buNone/>
            </a:pPr>
            <a:r>
              <a:rPr lang="ko-KR" sz="1400" b="1" dirty="0" err="1">
                <a:solidFill>
                  <a:srgbClr val="1B2A4A"/>
                </a:solidFill>
              </a:rPr>
              <a:t>논블로킹</a:t>
            </a:r>
            <a:r>
              <a:rPr lang="ko-KR" sz="1400" b="1" dirty="0">
                <a:solidFill>
                  <a:srgbClr val="1B2A4A"/>
                </a:solidFill>
              </a:rPr>
              <a:t> 타이밍 게임</a:t>
            </a:r>
          </a:p>
          <a:p>
            <a:pPr algn="l">
              <a:lnSpc>
                <a:spcPts val="1450"/>
              </a:lnSpc>
              <a:spcBef>
                <a:spcPts val="300"/>
              </a:spcBef>
              <a:buNone/>
            </a:pPr>
            <a:endParaRPr lang="en-US" altLang="ko-KR" sz="1100" dirty="0">
              <a:solidFill>
                <a:srgbClr val="45526A"/>
              </a:solidFill>
            </a:endParaRPr>
          </a:p>
          <a:p>
            <a:pPr algn="l">
              <a:lnSpc>
                <a:spcPts val="1450"/>
              </a:lnSpc>
              <a:spcBef>
                <a:spcPts val="300"/>
              </a:spcBef>
              <a:buNone/>
            </a:pPr>
            <a:r>
              <a:rPr lang="ko-KR" sz="1100" dirty="0" err="1">
                <a:solidFill>
                  <a:srgbClr val="45526A"/>
                </a:solidFill>
              </a:rPr>
              <a:t>std</a:t>
            </a:r>
            <a:r>
              <a:rPr lang="ko-KR" sz="1100" dirty="0">
                <a:solidFill>
                  <a:srgbClr val="45526A"/>
                </a:solidFill>
              </a:rPr>
              <a:t>::</a:t>
            </a:r>
            <a:r>
              <a:rPr lang="ko-KR" sz="1100" dirty="0" err="1">
                <a:solidFill>
                  <a:srgbClr val="45526A"/>
                </a:solidFill>
              </a:rPr>
              <a:t>chrono</a:t>
            </a:r>
            <a:r>
              <a:rPr lang="ko-KR" sz="1100" dirty="0">
                <a:solidFill>
                  <a:srgbClr val="45526A"/>
                </a:solidFill>
              </a:rPr>
              <a:t> 기반 상태 </a:t>
            </a:r>
            <a:r>
              <a:rPr lang="ko-KR" sz="1100" dirty="0" err="1">
                <a:solidFill>
                  <a:srgbClr val="45526A"/>
                </a:solidFill>
              </a:rPr>
              <a:t>머신으로</a:t>
            </a:r>
            <a:r>
              <a:rPr lang="ko-KR" sz="1100" dirty="0">
                <a:solidFill>
                  <a:srgbClr val="45526A"/>
                </a:solidFill>
              </a:rPr>
              <a:t> 실시간 반응 인터랙션 달성</a:t>
            </a:r>
          </a:p>
        </p:txBody>
      </p:sp>
      <p:sp>
        <p:nvSpPr>
          <p:cNvPr id="636" name="r637"/>
          <p:cNvSpPr/>
          <p:nvPr/>
        </p:nvSpPr>
        <p:spPr>
          <a:xfrm>
            <a:off x="8280400" y="3530600"/>
            <a:ext cx="3073400" cy="10668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r638"/>
          <p:cNvSpPr/>
          <p:nvPr/>
        </p:nvSpPr>
        <p:spPr>
          <a:xfrm>
            <a:off x="8280400" y="3530600"/>
            <a:ext cx="44450" cy="1066800"/>
          </a:xfrm>
          <a:prstGeom prst="rect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t639"/>
          <p:cNvSpPr txBox="1"/>
          <p:nvPr/>
        </p:nvSpPr>
        <p:spPr>
          <a:xfrm>
            <a:off x="8483600" y="3683000"/>
            <a:ext cx="2717800" cy="812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  <a:buNone/>
            </a:pPr>
            <a:r>
              <a:rPr lang="ko-KR" sz="1400" b="1" dirty="0">
                <a:solidFill>
                  <a:srgbClr val="1B2A4A"/>
                </a:solidFill>
              </a:rPr>
              <a:t>팀 협업 · </a:t>
            </a:r>
            <a:r>
              <a:rPr lang="ko-KR" sz="1400" b="1" dirty="0" err="1">
                <a:solidFill>
                  <a:srgbClr val="1B2A4A"/>
                </a:solidFill>
              </a:rPr>
              <a:t>Git</a:t>
            </a:r>
            <a:r>
              <a:rPr lang="ko-KR" sz="1400" b="1" dirty="0">
                <a:solidFill>
                  <a:srgbClr val="1B2A4A"/>
                </a:solidFill>
              </a:rPr>
              <a:t> 경험</a:t>
            </a:r>
          </a:p>
          <a:p>
            <a:pPr algn="l">
              <a:lnSpc>
                <a:spcPts val="1450"/>
              </a:lnSpc>
              <a:spcBef>
                <a:spcPts val="300"/>
              </a:spcBef>
              <a:buNone/>
            </a:pPr>
            <a:endParaRPr lang="en-US" altLang="ko-KR" sz="1100" dirty="0">
              <a:solidFill>
                <a:srgbClr val="45526A"/>
              </a:solidFill>
            </a:endParaRPr>
          </a:p>
          <a:p>
            <a:pPr algn="l">
              <a:lnSpc>
                <a:spcPts val="1450"/>
              </a:lnSpc>
              <a:spcBef>
                <a:spcPts val="300"/>
              </a:spcBef>
              <a:buNone/>
            </a:pPr>
            <a:r>
              <a:rPr lang="ko-KR" sz="1100" dirty="0">
                <a:solidFill>
                  <a:srgbClr val="45526A"/>
                </a:solidFill>
              </a:rPr>
              <a:t>버전 </a:t>
            </a:r>
            <a:r>
              <a:rPr lang="ko-KR" sz="1100" dirty="0" err="1">
                <a:solidFill>
                  <a:srgbClr val="45526A"/>
                </a:solidFill>
              </a:rPr>
              <a:t>관리·코드</a:t>
            </a:r>
            <a:r>
              <a:rPr lang="ko-KR" sz="1100" dirty="0">
                <a:solidFill>
                  <a:srgbClr val="45526A"/>
                </a:solidFill>
              </a:rPr>
              <a:t> 리뷰 경험, 모듈화 구조로 독립적 기능 개발</a:t>
            </a:r>
          </a:p>
        </p:txBody>
      </p:sp>
      <p:sp>
        <p:nvSpPr>
          <p:cNvPr id="639" name="r640"/>
          <p:cNvSpPr/>
          <p:nvPr/>
        </p:nvSpPr>
        <p:spPr>
          <a:xfrm>
            <a:off x="5003800" y="4699000"/>
            <a:ext cx="3073400" cy="10668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r641"/>
          <p:cNvSpPr/>
          <p:nvPr/>
        </p:nvSpPr>
        <p:spPr>
          <a:xfrm>
            <a:off x="5003800" y="4699000"/>
            <a:ext cx="44450" cy="1066800"/>
          </a:xfrm>
          <a:prstGeom prst="rect">
            <a:avLst/>
          </a:prstGeom>
          <a:solidFill>
            <a:srgbClr val="2563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t642"/>
          <p:cNvSpPr txBox="1"/>
          <p:nvPr/>
        </p:nvSpPr>
        <p:spPr>
          <a:xfrm>
            <a:off x="5207000" y="4851400"/>
            <a:ext cx="2717800" cy="812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  <a:buNone/>
            </a:pPr>
            <a:r>
              <a:rPr lang="ko-KR" sz="1400" b="1" dirty="0">
                <a:solidFill>
                  <a:srgbClr val="1B2A4A"/>
                </a:solidFill>
              </a:rPr>
              <a:t>객체지향 교육 레퍼런스</a:t>
            </a:r>
          </a:p>
          <a:p>
            <a:pPr algn="l">
              <a:lnSpc>
                <a:spcPts val="1450"/>
              </a:lnSpc>
              <a:spcBef>
                <a:spcPts val="300"/>
              </a:spcBef>
              <a:buNone/>
            </a:pPr>
            <a:endParaRPr lang="en-US" altLang="ko-KR" sz="1100" dirty="0">
              <a:solidFill>
                <a:srgbClr val="45526A"/>
              </a:solidFill>
            </a:endParaRPr>
          </a:p>
          <a:p>
            <a:pPr algn="l">
              <a:lnSpc>
                <a:spcPts val="1450"/>
              </a:lnSpc>
              <a:spcBef>
                <a:spcPts val="300"/>
              </a:spcBef>
              <a:buNone/>
            </a:pPr>
            <a:r>
              <a:rPr lang="ko-KR" sz="1100" dirty="0">
                <a:solidFill>
                  <a:srgbClr val="45526A"/>
                </a:solidFill>
              </a:rPr>
              <a:t>OOP 설계의 정석을 담아 </a:t>
            </a:r>
            <a:r>
              <a:rPr lang="ko-KR" sz="1100" dirty="0" err="1">
                <a:solidFill>
                  <a:srgbClr val="45526A"/>
                </a:solidFill>
              </a:rPr>
              <a:t>교육용·로직</a:t>
            </a:r>
            <a:r>
              <a:rPr lang="ko-KR" sz="1100" dirty="0">
                <a:solidFill>
                  <a:srgbClr val="45526A"/>
                </a:solidFill>
              </a:rPr>
              <a:t> 설계 모범 사례로 활용 가능</a:t>
            </a:r>
          </a:p>
        </p:txBody>
      </p:sp>
      <p:sp>
        <p:nvSpPr>
          <p:cNvPr id="642" name="r643"/>
          <p:cNvSpPr/>
          <p:nvPr/>
        </p:nvSpPr>
        <p:spPr>
          <a:xfrm>
            <a:off x="8280400" y="4699000"/>
            <a:ext cx="3073400" cy="106680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r644"/>
          <p:cNvSpPr/>
          <p:nvPr/>
        </p:nvSpPr>
        <p:spPr>
          <a:xfrm>
            <a:off x="8280400" y="4699000"/>
            <a:ext cx="44450" cy="1066800"/>
          </a:xfrm>
          <a:prstGeom prst="rect">
            <a:avLst/>
          </a:prstGeom>
          <a:solidFill>
            <a:srgbClr val="3E8E7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t645"/>
          <p:cNvSpPr txBox="1"/>
          <p:nvPr/>
        </p:nvSpPr>
        <p:spPr>
          <a:xfrm>
            <a:off x="8483600" y="4851400"/>
            <a:ext cx="2717800" cy="812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500"/>
              </a:lnSpc>
              <a:buNone/>
            </a:pPr>
            <a:r>
              <a:rPr lang="ko-KR" sz="1400" b="1" dirty="0" err="1">
                <a:solidFill>
                  <a:srgbClr val="1B2A4A"/>
                </a:solidFill>
              </a:rPr>
              <a:t>저사양</a:t>
            </a:r>
            <a:r>
              <a:rPr lang="ko-KR" sz="1400" b="1" dirty="0">
                <a:solidFill>
                  <a:srgbClr val="1B2A4A"/>
                </a:solidFill>
              </a:rPr>
              <a:t> 환경 적용</a:t>
            </a:r>
          </a:p>
          <a:p>
            <a:pPr algn="l">
              <a:lnSpc>
                <a:spcPts val="1450"/>
              </a:lnSpc>
              <a:spcBef>
                <a:spcPts val="300"/>
              </a:spcBef>
              <a:buNone/>
            </a:pPr>
            <a:endParaRPr lang="en-US" altLang="ko-KR" sz="1100" dirty="0">
              <a:solidFill>
                <a:srgbClr val="45526A"/>
              </a:solidFill>
            </a:endParaRPr>
          </a:p>
          <a:p>
            <a:pPr algn="l">
              <a:lnSpc>
                <a:spcPts val="1450"/>
              </a:lnSpc>
              <a:spcBef>
                <a:spcPts val="300"/>
              </a:spcBef>
              <a:buNone/>
            </a:pPr>
            <a:r>
              <a:rPr lang="ko-KR" sz="1100" dirty="0">
                <a:solidFill>
                  <a:srgbClr val="45526A"/>
                </a:solidFill>
              </a:rPr>
              <a:t>터미널만으로 실행</a:t>
            </a:r>
          </a:p>
        </p:txBody>
      </p:sp>
    </p:spTree>
    <p:extLst>
      <p:ext uri="{BB962C8B-B14F-4D97-AF65-F5344CB8AC3E}">
        <p14:creationId xmlns:p14="http://schemas.microsoft.com/office/powerpoint/2010/main" val="1905422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057599392]">
  <a:themeElements>
    <a:clrScheme name="Office">
      <a:dk1>
        <a:srgbClr val="1B2A4A"/>
      </a:dk1>
      <a:lt1>
        <a:srgbClr val="FFFFFF"/>
      </a:lt1>
      <a:dk2>
        <a:srgbClr val="0F1E3D"/>
      </a:dk2>
      <a:lt2>
        <a:srgbClr val="EEF3F9"/>
      </a:lt2>
      <a:accent1>
        <a:srgbClr val="2563B0"/>
      </a:accent1>
      <a:accent2>
        <a:srgbClr val="1B2A4A"/>
      </a:accent2>
      <a:accent3>
        <a:srgbClr val="5B8FD4"/>
      </a:accent3>
      <a:accent4>
        <a:srgbClr val="3E8E7E"/>
      </a:accent4>
      <a:accent5>
        <a:srgbClr val="8FB8E0"/>
      </a:accent5>
      <a:accent6>
        <a:srgbClr val="C9A22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bb109ad-8131-4125-9991-f995d31d6492}">
  <we:reference id="WA200010001" version="1.0.0.1" store="en-US" storeType="OMEX"/>
  <we:alternateReferences/>
  <we:properties>
    <we:property name="Microsoft.Office.CampaignId" value="&quot;none&quot;"/>
    <we:property name="claude.fileId" value="&quot;ce7a84b6-0f21-4f43-9ee8-a40cc867a7b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1612</TotalTime>
  <Words>1751</Words>
  <Application>Microsoft Office PowerPoint</Application>
  <PresentationFormat>와이드스크린</PresentationFormat>
  <Paragraphs>386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Arial</vt:lpstr>
      <vt:lpstr>Consolas</vt:lpstr>
      <vt:lpstr>Segoe UI</vt:lpstr>
      <vt:lpstr>Segoe UI Semibold</vt:lpstr>
      <vt:lpstr>Office Theme [1781057599392]</vt:lpstr>
      <vt:lpstr>다마고치 RPG</vt:lpstr>
      <vt:lpstr>프로젝트 개요</vt:lpstr>
      <vt:lpstr>벤치마킹 &amp; 개발 환경</vt:lpstr>
      <vt:lpstr>시스템 아키텍처  ·  MVC</vt:lpstr>
      <vt:lpstr>클래스 상속 구조</vt:lpstr>
      <vt:lpstr>UX 흐름 · 게임 플로우</vt:lpstr>
      <vt:lpstr>게임 엔진 &amp; 입출력 시스템</vt:lpstr>
      <vt:lpstr>육성 &amp; 훈련 시스템</vt:lpstr>
      <vt:lpstr>전투 시스템</vt:lpstr>
      <vt:lpstr>장비 &amp; 아이템 시스템</vt:lpstr>
      <vt:lpstr>객체지향 설계 원칙 적용</vt:lpstr>
      <vt:lpstr>테스트 &amp; 검증</vt:lpstr>
      <vt:lpstr>팀원별 기여</vt:lpstr>
      <vt:lpstr>결론 및 기대효과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KWANGIL CHO</cp:lastModifiedBy>
  <cp:revision>5</cp:revision>
  <dcterms:created xsi:type="dcterms:W3CDTF">2018-06-07T21:39:02Z</dcterms:created>
  <dcterms:modified xsi:type="dcterms:W3CDTF">2026-06-10T08:37:09Z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